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50" r:id="rId90"/>
    <p:sldId id="351" r:id="rId91"/>
    <p:sldId id="352" r:id="rId92"/>
    <p:sldId id="353" r:id="rId93"/>
    <p:sldId id="354" r:id="rId94"/>
    <p:sldId id="355" r:id="rId95"/>
    <p:sldId id="356" r:id="rId96"/>
    <p:sldId id="357" r:id="rId97"/>
    <p:sldId id="358" r:id="rId98"/>
    <p:sldId id="359" r:id="rId99"/>
    <p:sldId id="360" r:id="rId100"/>
    <p:sldId id="361" r:id="rId101"/>
    <p:sldId id="362" r:id="rId102"/>
    <p:sldId id="363" r:id="rId103"/>
    <p:sldId id="364" r:id="rId104"/>
    <p:sldId id="365" r:id="rId105"/>
    <p:sldId id="366" r:id="rId106"/>
    <p:sldId id="367" r:id="rId107"/>
    <p:sldId id="368" r:id="rId108"/>
    <p:sldId id="369" r:id="rId109"/>
    <p:sldId id="370" r:id="rId110"/>
    <p:sldId id="371" r:id="rId1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485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86249" y="1826066"/>
            <a:ext cx="1681461" cy="51005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3420" b="1" i="0">
                <a:solidFill>
                  <a:srgbClr val="F8F6F2"/>
                </a:solidFill>
                <a:latin typeface="Century Gothic"/>
              </a:rPr>
              <a:t>Fractals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1839" y="2512141"/>
            <a:ext cx="339588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F9F7F4"/>
                </a:solidFill>
                <a:latin typeface="Arial"/>
              </a:rPr>
              <a:t>Infinite Details from Simple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3727" y="3281670"/>
            <a:ext cx="289401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F8F6F2"/>
                </a:solidFill>
                <a:latin typeface="Arial"/>
              </a:rPr>
              <a:t>Aditya Tirtho Roy (2305178)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22443" y="3599285"/>
            <a:ext cx="314528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F8F6F2"/>
                </a:solidFill>
                <a:latin typeface="Arial"/>
              </a:rPr>
              <a:t>Farhan Ehsas Sami (2305177)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3122" y="3916900"/>
            <a:ext cx="259460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F8F6F2"/>
                </a:solidFill>
                <a:latin typeface="Arial"/>
              </a:rPr>
              <a:t>Pritom Biswas (2305160)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1352" y="4439128"/>
            <a:ext cx="4016351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F9F8F5"/>
                </a:solidFill>
                <a:latin typeface="Arial"/>
              </a:rPr>
              <a:t>Department of Computer Science and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271" y="4670100"/>
            <a:ext cx="4920410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F9F8F5"/>
                </a:solidFill>
                <a:latin typeface="Arial"/>
              </a:rPr>
              <a:t>Bangladesh University of Engineering and Technology (BUET)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4394" y="5227483"/>
            <a:ext cx="1813320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FAF8F5"/>
                </a:solidFill>
                <a:latin typeface="Arial"/>
              </a:rPr>
              <a:t>CSE 200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72076" y="2910201"/>
            <a:ext cx="1327150" cy="43774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850" b="1" i="0">
                <a:solidFill>
                  <a:srgbClr val="191919"/>
                </a:solidFill>
                <a:latin typeface="Arial"/>
              </a:rPr>
              <a:t>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1741" y="-48847931"/>
            <a:ext cx="1896175" cy="15715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5184562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So, You’re Designing All the Trees...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261" y="801736"/>
            <a:ext cx="761423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Imagine you’re a game developer. You’ve just been handed one job: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261" y="1119351"/>
            <a:ext cx="3839682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every tree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in the game — all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880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899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6760" y="6628585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1741" y="-48847931"/>
            <a:ext cx="1896175" cy="15715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5184562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So, You’re Designing All the Trees...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261" y="801736"/>
            <a:ext cx="761423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Imagine you’re a game developer. You’ve just been handed one job: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261" y="1119351"/>
            <a:ext cx="3839682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every tree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in the game — all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739" y="1650700"/>
            <a:ext cx="422902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You could hand-draw every branch, every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9" y="1968315"/>
            <a:ext cx="326414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twig, every leaf, one at a time...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80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899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6760" y="6628585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1741" y="-48847931"/>
            <a:ext cx="1896175" cy="15715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5184562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So, You’re Designing All the Trees...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261" y="801736"/>
            <a:ext cx="761423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Imagine you’re a game developer. You’ve just been handed one job: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261" y="1119351"/>
            <a:ext cx="3839682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every tree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in the game — all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739" y="1650700"/>
            <a:ext cx="422902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You could hand-draw every branch, every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9" y="1968315"/>
            <a:ext cx="326414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twig, every leaf, one at a time...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736" y="2399889"/>
            <a:ext cx="334842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1">
                <a:solidFill>
                  <a:srgbClr val="191919"/>
                </a:solidFill>
                <a:latin typeface="Arial"/>
              </a:rPr>
              <a:t>(kind of like how Rockstar’s been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736" y="2717504"/>
            <a:ext cx="378386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1">
                <a:solidFill>
                  <a:srgbClr val="191919"/>
                </a:solidFill>
                <a:latin typeface="Arial"/>
              </a:rPr>
              <a:t>“finishing” GTA 6 for the last decade.)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80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8899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6760" y="6628585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015" y="1555796"/>
            <a:ext cx="1896175" cy="15715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5184562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So, You’re Designing All the Trees...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261" y="801736"/>
            <a:ext cx="761423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Imagine you’re a game developer. You’ve just been handed one job: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261" y="1119351"/>
            <a:ext cx="3839682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every tree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in the game — all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739" y="1650700"/>
            <a:ext cx="422902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You could hand-draw every branch, every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9" y="1968315"/>
            <a:ext cx="326414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twig, every leaf, one at a time...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736" y="2399889"/>
            <a:ext cx="334842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1">
                <a:solidFill>
                  <a:srgbClr val="191919"/>
                </a:solidFill>
                <a:latin typeface="Arial"/>
              </a:rPr>
              <a:t>(kind of like how Rockstar’s been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736" y="2717504"/>
            <a:ext cx="378386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1">
                <a:solidFill>
                  <a:srgbClr val="191919"/>
                </a:solidFill>
                <a:latin typeface="Arial"/>
              </a:rPr>
              <a:t>“finishing” GTA 6 for the last decade.)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4892" y="3718284"/>
            <a:ext cx="5922873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Or, you write </a:t>
            </a:r>
            <a:r>
              <a:rPr sz="1780" b="1" i="0">
                <a:solidFill>
                  <a:srgbClr val="9B4632"/>
                </a:solidFill>
                <a:latin typeface="Arial"/>
              </a:rPr>
              <a:t>one rule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— “a branch splits into two smaller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4892" y="4035899"/>
            <a:ext cx="6294136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branches” — and let that rule call itself, again and again, at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4892" y="4353489"/>
            <a:ext cx="259754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smaller scale every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0" y="6628588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899" y="6628588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6760" y="6628588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015" y="1555796"/>
            <a:ext cx="1896175" cy="15715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5184562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So, You’re Designing All the Trees...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261" y="801736"/>
            <a:ext cx="761423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Imagine you’re a game developer. You’ve just been handed one job: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261" y="1119351"/>
            <a:ext cx="3839682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every tree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in the game — all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739" y="1650700"/>
            <a:ext cx="422902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You could hand-draw every branch, every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9" y="1968315"/>
            <a:ext cx="326414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twig, every leaf, one at a time...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736" y="2399889"/>
            <a:ext cx="334842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1">
                <a:solidFill>
                  <a:srgbClr val="191919"/>
                </a:solidFill>
                <a:latin typeface="Arial"/>
              </a:rPr>
              <a:t>(kind of like how Rockstar’s been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736" y="2717504"/>
            <a:ext cx="378386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1">
                <a:solidFill>
                  <a:srgbClr val="191919"/>
                </a:solidFill>
                <a:latin typeface="Arial"/>
              </a:rPr>
              <a:t>“finishing” GTA 6 for the last decade.)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4892" y="3718284"/>
            <a:ext cx="5922873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Or, you write </a:t>
            </a:r>
            <a:r>
              <a:rPr sz="1780" b="1" i="0">
                <a:solidFill>
                  <a:srgbClr val="9B4632"/>
                </a:solidFill>
                <a:latin typeface="Arial"/>
              </a:rPr>
              <a:t>one rule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— “a branch splits into two smaller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4892" y="4035899"/>
            <a:ext cx="6294136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branches” — and let that rule call itself, again and again, at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4892" y="4353489"/>
            <a:ext cx="259754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smaller scale every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451" y="5438240"/>
            <a:ext cx="7307146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Trunk becomes branch, branch becomes twig, twig becomes leaf —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same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451" y="5755830"/>
            <a:ext cx="7307148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rule, every time</a:t>
            </a:r>
            <a:r>
              <a:rPr sz="1780" b="0" i="0">
                <a:solidFill>
                  <a:srgbClr val="000000"/>
                </a:solidFill>
                <a:latin typeface="Arial"/>
              </a:rPr>
              <a:t>. The engine genuinely can’t tell the whole tree apart from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451" y="6073445"/>
            <a:ext cx="195579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one tiny piece of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80" y="6628588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8899" y="6628588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6760" y="6628588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343" y="1826588"/>
            <a:ext cx="2622573" cy="19669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43431"/>
            <a:ext cx="1389813" cy="3804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D´ej`a Vu?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736" y="953400"/>
            <a:ext cx="391560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Here’s the simplest possible version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6" y="1271015"/>
            <a:ext cx="323228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that same trick: draw a triangle.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880" y="6628592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899" y="6628592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6760" y="6628592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3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151" y="1826582"/>
            <a:ext cx="2622572" cy="19669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43431"/>
            <a:ext cx="1389813" cy="3804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D´ej`a Vu?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736" y="953400"/>
            <a:ext cx="391560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Here’s the simplest possible version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6" y="1271015"/>
            <a:ext cx="323228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that same trick: draw a triangle.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736" y="1695764"/>
            <a:ext cx="400599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Cut a smaller triangle out of the middle.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80" y="6628586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8899" y="6628586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6760" y="6628586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3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934" y="1826582"/>
            <a:ext cx="2622573" cy="19669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43431"/>
            <a:ext cx="1389813" cy="3804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D´ej`a Vu?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736" y="953400"/>
            <a:ext cx="391560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Here’s the simplest possible version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6" y="1271015"/>
            <a:ext cx="323228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that same trick: draw a triangle.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736" y="1695764"/>
            <a:ext cx="400599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Cut a smaller triangle out of the middle.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6" y="2120535"/>
            <a:ext cx="378861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Now do that again, inside each of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736" y="2438125"/>
            <a:ext cx="301648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three triangles you’ve got left.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80" y="6628586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8899" y="6628586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6760" y="6628586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3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848" y="2012368"/>
            <a:ext cx="2622572" cy="19669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43431"/>
            <a:ext cx="1389813" cy="3804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D´ej`a Vu?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736" y="953400"/>
            <a:ext cx="391560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Here’s the simplest possible version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6" y="1271015"/>
            <a:ext cx="323228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that same trick: draw a triangle.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736" y="1695764"/>
            <a:ext cx="400599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Cut a smaller triangle out of the middle.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6" y="2120535"/>
            <a:ext cx="378861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Now do that again, inside each of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736" y="2438125"/>
            <a:ext cx="301648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three triangles you’ve got left.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736" y="2862898"/>
            <a:ext cx="218198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And again — forever.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80" y="6628586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8899" y="6628586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6760" y="6628586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3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535" y="2258080"/>
            <a:ext cx="2623211" cy="14755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43431"/>
            <a:ext cx="1389813" cy="3804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D´ej`a Vu?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736" y="953400"/>
            <a:ext cx="391560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Here’s the simplest possible version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6" y="1271015"/>
            <a:ext cx="323228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that same trick: draw a triangle.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736" y="1695764"/>
            <a:ext cx="400599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Cut a smaller triangle out of the middle.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6" y="2120535"/>
            <a:ext cx="378861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Now do that again, inside each of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736" y="2438125"/>
            <a:ext cx="301648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three triangles you’ve got left.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736" y="2862898"/>
            <a:ext cx="218198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And again — forever.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648" y="3527889"/>
            <a:ext cx="385572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It’s basically filming yourself watching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648" y="3845479"/>
            <a:ext cx="3820926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TV, while the TV plays that exact clip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648" y="4163094"/>
            <a:ext cx="207216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of you watching TV.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0" y="6628589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899" y="6628589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6760" y="6628589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3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535" y="2258080"/>
            <a:ext cx="2623211" cy="14755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43431"/>
            <a:ext cx="1389813" cy="38048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D´ej`a Vu?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736" y="953400"/>
            <a:ext cx="391560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Here’s the simplest possible version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6" y="1271015"/>
            <a:ext cx="323228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that same trick: draw a triangle.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736" y="1695764"/>
            <a:ext cx="400599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Cut a smaller triangle out of the middle.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6" y="2120535"/>
            <a:ext cx="378861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Now do that again, inside each of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736" y="2438125"/>
            <a:ext cx="301648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three triangles you’ve got left.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736" y="2862898"/>
            <a:ext cx="218198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And again — forever.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648" y="3527889"/>
            <a:ext cx="385572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It’s basically filming yourself watching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648" y="3845479"/>
            <a:ext cx="3820926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TV, while the TV plays that exact clip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648" y="4163094"/>
            <a:ext cx="207216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of you watching TV.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451" y="5391041"/>
            <a:ext cx="7307147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Weird, right? That’s a </a:t>
            </a:r>
            <a:r>
              <a:rPr sz="1780" b="1" i="0">
                <a:solidFill>
                  <a:srgbClr val="9B4632"/>
                </a:solidFill>
                <a:latin typeface="Arial"/>
              </a:rPr>
              <a:t>fractal </a:t>
            </a:r>
            <a:r>
              <a:rPr sz="1780" b="0" i="0">
                <a:solidFill>
                  <a:srgbClr val="000000"/>
                </a:solidFill>
                <a:latin typeface="Arial"/>
              </a:rPr>
              <a:t>— a shape built out of smaller copies 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451" y="5708656"/>
            <a:ext cx="60360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itself.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80" y="6628589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8899" y="6628589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6760" y="6628589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3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2751650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What are Fractals?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180" y="849182"/>
            <a:ext cx="1233896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180" y="1349318"/>
            <a:ext cx="7005558" cy="3343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A </a:t>
            </a:r>
            <a:r>
              <a:rPr sz="1980" b="1" i="0">
                <a:solidFill>
                  <a:srgbClr val="9B4632"/>
                </a:solidFill>
                <a:latin typeface="Arial"/>
              </a:rPr>
              <a:t>fractal </a:t>
            </a:r>
            <a:r>
              <a:rPr sz="1980" b="0" i="0">
                <a:solidFill>
                  <a:srgbClr val="000000"/>
                </a:solidFill>
                <a:latin typeface="Arial"/>
              </a:rPr>
              <a:t>is a geometric shape containing detailed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180" y="1695814"/>
            <a:ext cx="7005558" cy="3343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at arbitrarily small scales, usually having a </a:t>
            </a:r>
            <a:r>
              <a:rPr sz="1980" b="1" i="0">
                <a:solidFill>
                  <a:srgbClr val="9B4632"/>
                </a:solidFill>
                <a:latin typeface="Arial"/>
              </a:rPr>
              <a:t>fractal 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180" y="2042285"/>
            <a:ext cx="5205868" cy="3343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strictly exceeding the</a:t>
            </a:r>
            <a:r>
              <a:rPr sz="1980" b="1" i="0">
                <a:solidFill>
                  <a:srgbClr val="9B4632"/>
                </a:solidFill>
                <a:latin typeface="Arial"/>
              </a:rPr>
              <a:t> topological dimension</a:t>
            </a:r>
            <a:r>
              <a:rPr sz="1980" b="0" i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62" y="2841389"/>
            <a:ext cx="2494031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191919"/>
                </a:solidFill>
                <a:latin typeface="Arial"/>
              </a:rPr>
              <a:t>Key Characteristics: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022" y="3344978"/>
            <a:ext cx="6542079" cy="3343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980" b="1" i="0">
                <a:solidFill>
                  <a:srgbClr val="9B4632"/>
                </a:solidFill>
                <a:latin typeface="Arial"/>
              </a:rPr>
              <a:t>Scale invariance</a:t>
            </a:r>
            <a:r>
              <a:rPr sz="1980" b="0" i="0">
                <a:solidFill>
                  <a:srgbClr val="191919"/>
                </a:solidFill>
                <a:latin typeface="Arial"/>
              </a:rPr>
              <a:t>: Details at every level of magnification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022" y="3722799"/>
            <a:ext cx="6836838" cy="33485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980" b="1" i="0">
                <a:solidFill>
                  <a:srgbClr val="9B4632"/>
                </a:solidFill>
                <a:latin typeface="Arial"/>
              </a:rPr>
              <a:t>Fractal dimension</a:t>
            </a:r>
            <a:r>
              <a:rPr sz="1980" b="0" i="0">
                <a:solidFill>
                  <a:srgbClr val="191919"/>
                </a:solidFill>
                <a:latin typeface="Arial"/>
              </a:rPr>
              <a:t>: More than the</a:t>
            </a:r>
            <a:r>
              <a:rPr sz="1980" b="0" i="1">
                <a:solidFill>
                  <a:srgbClr val="191919"/>
                </a:solidFill>
                <a:latin typeface="Arial"/>
              </a:rPr>
              <a:t> conventional </a:t>
            </a:r>
            <a:r>
              <a:rPr sz="1980" b="0" i="0">
                <a:solidFill>
                  <a:srgbClr val="191919"/>
                </a:solidFill>
                <a:latin typeface="Arial"/>
              </a:rPr>
              <a:t>dimension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022" y="4071765"/>
            <a:ext cx="6728875" cy="3343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980" b="1" i="0">
                <a:solidFill>
                  <a:srgbClr val="9B4632"/>
                </a:solidFill>
                <a:latin typeface="Arial"/>
              </a:rPr>
              <a:t>Infinite complexity</a:t>
            </a:r>
            <a:r>
              <a:rPr sz="1980" b="0" i="0">
                <a:solidFill>
                  <a:srgbClr val="191919"/>
                </a:solidFill>
                <a:latin typeface="Arial"/>
              </a:rPr>
              <a:t>: Generated by simple, recursive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5958" y="4430381"/>
            <a:ext cx="403288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Like the infinite complexities of nature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74" y="6628589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8893" y="6628589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6753" y="6628589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2751650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What are Fractals?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180" y="849182"/>
            <a:ext cx="1233896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180" y="1349318"/>
            <a:ext cx="7005558" cy="3343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A </a:t>
            </a:r>
            <a:r>
              <a:rPr sz="1980" b="1" i="0">
                <a:solidFill>
                  <a:srgbClr val="9B4632"/>
                </a:solidFill>
                <a:latin typeface="Arial"/>
              </a:rPr>
              <a:t>fractal </a:t>
            </a:r>
            <a:r>
              <a:rPr sz="1980" b="0" i="0">
                <a:solidFill>
                  <a:srgbClr val="000000"/>
                </a:solidFill>
                <a:latin typeface="Arial"/>
              </a:rPr>
              <a:t>is a geometric shape containing detailed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180" y="1695814"/>
            <a:ext cx="7005558" cy="3343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at arbitrarily small scales, usually having a </a:t>
            </a:r>
            <a:r>
              <a:rPr sz="1980" b="1" i="0">
                <a:solidFill>
                  <a:srgbClr val="9B4632"/>
                </a:solidFill>
                <a:latin typeface="Arial"/>
              </a:rPr>
              <a:t>fractal 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180" y="2042285"/>
            <a:ext cx="5205868" cy="3343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strictly exceeding the</a:t>
            </a:r>
            <a:r>
              <a:rPr sz="1980" b="1" i="0">
                <a:solidFill>
                  <a:srgbClr val="9B4632"/>
                </a:solidFill>
                <a:latin typeface="Arial"/>
              </a:rPr>
              <a:t> topological dimension</a:t>
            </a:r>
            <a:r>
              <a:rPr sz="1980" b="0" i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62" y="2841389"/>
            <a:ext cx="2494031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191919"/>
                </a:solidFill>
                <a:latin typeface="Arial"/>
              </a:rPr>
              <a:t>Key Characteristics: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022" y="3344978"/>
            <a:ext cx="6542079" cy="3343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980" b="1" i="0">
                <a:solidFill>
                  <a:srgbClr val="9B4632"/>
                </a:solidFill>
                <a:latin typeface="Arial"/>
              </a:rPr>
              <a:t>Scale invariance</a:t>
            </a:r>
            <a:r>
              <a:rPr sz="1980" b="0" i="0">
                <a:solidFill>
                  <a:srgbClr val="191919"/>
                </a:solidFill>
                <a:latin typeface="Arial"/>
              </a:rPr>
              <a:t>: Details at every level of magnification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022" y="3722799"/>
            <a:ext cx="6836838" cy="33485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980" b="1" i="0">
                <a:solidFill>
                  <a:srgbClr val="9B4632"/>
                </a:solidFill>
                <a:latin typeface="Arial"/>
              </a:rPr>
              <a:t>Fractal dimension</a:t>
            </a:r>
            <a:r>
              <a:rPr sz="1980" b="0" i="0">
                <a:solidFill>
                  <a:srgbClr val="191919"/>
                </a:solidFill>
                <a:latin typeface="Arial"/>
              </a:rPr>
              <a:t>: More than the</a:t>
            </a:r>
            <a:r>
              <a:rPr sz="1980" b="0" i="1">
                <a:solidFill>
                  <a:srgbClr val="191919"/>
                </a:solidFill>
                <a:latin typeface="Arial"/>
              </a:rPr>
              <a:t> conventional </a:t>
            </a:r>
            <a:r>
              <a:rPr sz="1980" b="0" i="0">
                <a:solidFill>
                  <a:srgbClr val="191919"/>
                </a:solidFill>
                <a:latin typeface="Arial"/>
              </a:rPr>
              <a:t>dimension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022" y="4071765"/>
            <a:ext cx="6728875" cy="3343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980" b="1" i="0">
                <a:solidFill>
                  <a:srgbClr val="9B4632"/>
                </a:solidFill>
                <a:latin typeface="Arial"/>
              </a:rPr>
              <a:t>Infinite complexity</a:t>
            </a:r>
            <a:r>
              <a:rPr sz="1980" b="0" i="0">
                <a:solidFill>
                  <a:srgbClr val="191919"/>
                </a:solidFill>
                <a:latin typeface="Arial"/>
              </a:rPr>
              <a:t>: Generated by simple, recursive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5958" y="4430381"/>
            <a:ext cx="403288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Like the infinite complexities of nature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8706" y="5264223"/>
            <a:ext cx="4966594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1">
                <a:solidFill>
                  <a:srgbClr val="191919"/>
                </a:solidFill>
                <a:latin typeface="Arial"/>
              </a:rPr>
              <a:t>”Clouds are not spheres, mountains are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1573" y="5610693"/>
            <a:ext cx="3956530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1">
                <a:solidFill>
                  <a:srgbClr val="191919"/>
                </a:solidFill>
                <a:latin typeface="Arial"/>
              </a:rPr>
              <a:t>cones, coastlines are not circles...”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33566" y="5956703"/>
            <a:ext cx="2626346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191919"/>
                </a:solidFill>
                <a:latin typeface="Arial"/>
              </a:rPr>
              <a:t>— Benoit Mandelbrot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77" y="6628589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8896" y="6628589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6756" y="6628589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4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3366280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Mandelbrot’s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62" y="1031400"/>
            <a:ext cx="7791396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In the 1960s, working at IBM,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Benoit Mandelbrot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asked a deceptively simple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262" y="1349015"/>
            <a:ext cx="99317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question: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782" y="2132349"/>
            <a:ext cx="351700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1">
                <a:solidFill>
                  <a:srgbClr val="191919"/>
                </a:solidFill>
                <a:latin typeface="Arial"/>
              </a:rPr>
              <a:t>“How long is the coast of Britain?”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880" y="6628589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899" y="6628589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6760" y="6628589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5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3366280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Mandelbrot’s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62" y="1031400"/>
            <a:ext cx="7791396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In the 1960s, working at IBM,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Benoit Mandelbrot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asked a deceptively simple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262" y="1349015"/>
            <a:ext cx="99317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question: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782" y="2132349"/>
            <a:ext cx="351700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1">
                <a:solidFill>
                  <a:srgbClr val="191919"/>
                </a:solidFill>
                <a:latin typeface="Arial"/>
              </a:rPr>
              <a:t>“How long is the coast of Britain?”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64" y="3172547"/>
            <a:ext cx="7761566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The honest answer: </a:t>
            </a:r>
            <a:r>
              <a:rPr sz="1780" b="1" i="0">
                <a:solidFill>
                  <a:srgbClr val="9B4632"/>
                </a:solidFill>
                <a:latin typeface="Arial"/>
              </a:rPr>
              <a:t>it depends on your ruler</a:t>
            </a:r>
            <a:r>
              <a:rPr sz="1780" b="0" i="0">
                <a:solidFill>
                  <a:srgbClr val="191919"/>
                </a:solidFill>
                <a:latin typeface="Arial"/>
              </a:rPr>
              <a:t>. Measure with a 100 km ruler,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64" y="3490161"/>
            <a:ext cx="747684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get one length. Use a 1 km ruler, and the measured length grows — every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64" y="3807776"/>
            <a:ext cx="761898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bay and inlet you’d smoothed over now counts. The length never converges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64" y="4125366"/>
            <a:ext cx="197974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to a single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80" y="6628589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8899" y="6628589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6760" y="6628589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5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3366280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Mandelbrot’s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62" y="1031400"/>
            <a:ext cx="7791396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In the 1960s, working at IBM,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Benoit Mandelbrot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asked a deceptively simple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262" y="1349015"/>
            <a:ext cx="99317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question: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782" y="2132349"/>
            <a:ext cx="351700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1">
                <a:solidFill>
                  <a:srgbClr val="191919"/>
                </a:solidFill>
                <a:latin typeface="Arial"/>
              </a:rPr>
              <a:t>“How long is the coast of Britain?”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64" y="3172547"/>
            <a:ext cx="7761566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The honest answer: </a:t>
            </a:r>
            <a:r>
              <a:rPr sz="1780" b="1" i="0">
                <a:solidFill>
                  <a:srgbClr val="9B4632"/>
                </a:solidFill>
                <a:latin typeface="Arial"/>
              </a:rPr>
              <a:t>it depends on your ruler</a:t>
            </a:r>
            <a:r>
              <a:rPr sz="1780" b="0" i="0">
                <a:solidFill>
                  <a:srgbClr val="191919"/>
                </a:solidFill>
                <a:latin typeface="Arial"/>
              </a:rPr>
              <a:t>. Measure with a 100 km ruler,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64" y="3490161"/>
            <a:ext cx="747684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get one length. Use a 1 km ruler, and the measured length grows — every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64" y="3807776"/>
            <a:ext cx="761898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bay and inlet you’d smoothed over now counts. The length never converges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64" y="4125366"/>
            <a:ext cx="197974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to a single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64" y="4711403"/>
            <a:ext cx="697294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Mandelbrot’s insight: this isn’t a flaw in the coastline — it’s a sign that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64" y="5028993"/>
            <a:ext cx="7788681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classical length and area are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the wrong tools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for something like this. What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64" y="5346608"/>
            <a:ext cx="7134735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coastline actually needed was exactly the kind of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“useless” geometry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64" y="5664223"/>
            <a:ext cx="7407476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mathematicians had quietly been building for a century already — without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64" y="5981812"/>
            <a:ext cx="140985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knowing why.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80" y="6628589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8899" y="6628589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6760" y="6628589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5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2231925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Borrowed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62" y="735156"/>
            <a:ext cx="411694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Mandelbrot wasn’t building from nothing.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874" y="6628586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8893" y="6628586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06753" y="6628586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6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2231925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Borrowed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62" y="735156"/>
            <a:ext cx="411694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Mandelbrot wasn’t building from nothing.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7781" y="1575602"/>
            <a:ext cx="6154488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Back in 1872, </a:t>
            </a:r>
            <a:r>
              <a:rPr sz="1780" b="1" i="0">
                <a:solidFill>
                  <a:srgbClr val="9B4632"/>
                </a:solidFill>
                <a:latin typeface="Arial"/>
              </a:rPr>
              <a:t>Karl Weierstrass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broke an assumption every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781" y="1893217"/>
            <a:ext cx="537851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mathematician had taken for granted — on purpose.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874" y="6628586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893" y="6628586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6753" y="6628586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6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2231925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Borrowed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62" y="735156"/>
            <a:ext cx="411694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Mandelbrot wasn’t building from nothing.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7781" y="1575602"/>
            <a:ext cx="6154488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Back in 1872, </a:t>
            </a:r>
            <a:r>
              <a:rPr sz="1780" b="1" i="0">
                <a:solidFill>
                  <a:srgbClr val="9B4632"/>
                </a:solidFill>
                <a:latin typeface="Arial"/>
              </a:rPr>
              <a:t>Karl Weierstrass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broke an assumption every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781" y="1893217"/>
            <a:ext cx="537851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mathematician had taken for granted — on purpose.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61" y="2858964"/>
            <a:ext cx="755932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That set off a decades-long spree: mathematicians started building weirder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61" y="3176554"/>
            <a:ext cx="7584408" cy="30216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and weirder shapes on purpose, just to see where ordinary geometry broke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61" y="3494169"/>
            <a:ext cx="5822092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down —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Cantor</a:t>
            </a:r>
            <a:r>
              <a:rPr sz="1780" b="0" i="0">
                <a:solidFill>
                  <a:srgbClr val="191919"/>
                </a:solidFill>
                <a:latin typeface="Arial"/>
              </a:rPr>
              <a:t>’s dust and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Koch</a:t>
            </a:r>
            <a:r>
              <a:rPr sz="1780" b="0" i="0">
                <a:solidFill>
                  <a:srgbClr val="191919"/>
                </a:solidFill>
                <a:latin typeface="Arial"/>
              </a:rPr>
              <a:t>’s endless jagged curve.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74" y="6628586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8893" y="6628586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6753" y="6628586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6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2231925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Borrowed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62" y="735156"/>
            <a:ext cx="411694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Mandelbrot wasn’t building from nothing.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7781" y="1575602"/>
            <a:ext cx="6154488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Back in 1872, </a:t>
            </a:r>
            <a:r>
              <a:rPr sz="1780" b="1" i="0">
                <a:solidFill>
                  <a:srgbClr val="9B4632"/>
                </a:solidFill>
                <a:latin typeface="Arial"/>
              </a:rPr>
              <a:t>Karl Weierstrass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broke an assumption every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781" y="1893217"/>
            <a:ext cx="537851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mathematician had taken for granted — on purpose.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61" y="2858964"/>
            <a:ext cx="755932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That set off a decades-long spree: mathematicians started building weirder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61" y="3176554"/>
            <a:ext cx="7584408" cy="30216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and weirder shapes on purpose, just to see where ordinary geometry broke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61" y="3494169"/>
            <a:ext cx="5822092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down —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Cantor</a:t>
            </a:r>
            <a:r>
              <a:rPr sz="1780" b="0" i="0">
                <a:solidFill>
                  <a:srgbClr val="191919"/>
                </a:solidFill>
                <a:latin typeface="Arial"/>
              </a:rPr>
              <a:t>’s dust and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Koch</a:t>
            </a:r>
            <a:r>
              <a:rPr sz="1780" b="0" i="0">
                <a:solidFill>
                  <a:srgbClr val="191919"/>
                </a:solidFill>
                <a:latin typeface="Arial"/>
              </a:rPr>
              <a:t>’s endless jagged curve.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61" y="4080179"/>
            <a:ext cx="7036891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For nearly a century, these were dismissed as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beautiful but useless</a:t>
            </a:r>
            <a:r>
              <a:rPr sz="1780" b="0" i="0">
                <a:solidFill>
                  <a:srgbClr val="191919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61" y="4397794"/>
            <a:ext cx="758938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Mandelbrot was the one who realized they weren’t useless at all — he gave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61" y="4715409"/>
            <a:ext cx="3397916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the whole family a name: </a:t>
            </a:r>
            <a:r>
              <a:rPr sz="1780" b="1" i="0">
                <a:solidFill>
                  <a:srgbClr val="9B4632"/>
                </a:solidFill>
                <a:latin typeface="Arial"/>
              </a:rPr>
              <a:t>fractal</a:t>
            </a:r>
            <a:r>
              <a:rPr sz="1780" b="0" i="0">
                <a:solidFill>
                  <a:srgbClr val="191919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74" y="6628586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8893" y="6628586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6753" y="6628586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6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2231925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Borrowed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62" y="735156"/>
            <a:ext cx="411694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Mandelbrot wasn’t building from nothing.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7781" y="1575602"/>
            <a:ext cx="6154488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Back in 1872, </a:t>
            </a:r>
            <a:r>
              <a:rPr sz="1780" b="1" i="0">
                <a:solidFill>
                  <a:srgbClr val="9B4632"/>
                </a:solidFill>
                <a:latin typeface="Arial"/>
              </a:rPr>
              <a:t>Karl Weierstrass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broke an assumption every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781" y="1893217"/>
            <a:ext cx="537851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mathematician had taken for granted — on purpose.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61" y="2858964"/>
            <a:ext cx="755932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That set off a decades-long spree: mathematicians started building weirder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61" y="3176554"/>
            <a:ext cx="7584408" cy="30216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and weirder shapes on purpose, just to see where ordinary geometry broke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61" y="3494169"/>
            <a:ext cx="5822092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down —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Cantor</a:t>
            </a:r>
            <a:r>
              <a:rPr sz="1780" b="0" i="0">
                <a:solidFill>
                  <a:srgbClr val="191919"/>
                </a:solidFill>
                <a:latin typeface="Arial"/>
              </a:rPr>
              <a:t>’s dust and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Koch</a:t>
            </a:r>
            <a:r>
              <a:rPr sz="1780" b="0" i="0">
                <a:solidFill>
                  <a:srgbClr val="191919"/>
                </a:solidFill>
                <a:latin typeface="Arial"/>
              </a:rPr>
              <a:t>’s endless jagged curve.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61" y="4080179"/>
            <a:ext cx="7036891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For nearly a century, these were dismissed as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beautiful but useless</a:t>
            </a:r>
            <a:r>
              <a:rPr sz="1780" b="0" i="0">
                <a:solidFill>
                  <a:srgbClr val="191919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61" y="4397794"/>
            <a:ext cx="758938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Mandelbrot was the one who realized they weren’t useless at all — he gave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61" y="4715409"/>
            <a:ext cx="3397916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the whole family a name: </a:t>
            </a:r>
            <a:r>
              <a:rPr sz="1780" b="1" i="0">
                <a:solidFill>
                  <a:srgbClr val="9B4632"/>
                </a:solidFill>
                <a:latin typeface="Arial"/>
              </a:rPr>
              <a:t>fractal</a:t>
            </a:r>
            <a:r>
              <a:rPr sz="1780" b="0" i="0">
                <a:solidFill>
                  <a:srgbClr val="191919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4888" y="5625487"/>
            <a:ext cx="635243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And that triangle? The exact one you watched me draw a few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4888" y="5943102"/>
            <a:ext cx="137890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minutes ago.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77" y="6628586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8896" y="6628586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6756" y="6628586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6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72076" y="2910201"/>
            <a:ext cx="2542307" cy="43774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850" b="1" i="0">
                <a:solidFill>
                  <a:srgbClr val="191919"/>
                </a:solidFill>
                <a:latin typeface="Arial"/>
              </a:rPr>
              <a:t>Some Fractals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89" y="2193371"/>
            <a:ext cx="3085636" cy="23142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3232206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The Sierpinski Triangle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960" y="1954205"/>
            <a:ext cx="386679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Let’s construct the Sierpinski Triangle: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1050" y="2489065"/>
            <a:ext cx="242422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FFFFFF"/>
                </a:solidFill>
                <a:latin typeface="Arial"/>
              </a:rPr>
              <a:t>Construction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147" y="2971239"/>
            <a:ext cx="3183485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191919"/>
                </a:solidFill>
                <a:latin typeface="Arial"/>
              </a:rPr>
              <a:t>1. Start with an equilateral triangle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6454" y="4686808"/>
            <a:ext cx="107655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Iteration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80" y="6628587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899" y="6628587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6760" y="6628587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7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89" y="2193371"/>
            <a:ext cx="3085636" cy="23142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3232206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The Sierpinski Triangle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960" y="1954205"/>
            <a:ext cx="386679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Let’s construct the Sierpinski Triangle: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1050" y="2489065"/>
            <a:ext cx="242422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FFFFFF"/>
                </a:solidFill>
                <a:latin typeface="Arial"/>
              </a:rPr>
              <a:t>Construction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147" y="2971239"/>
            <a:ext cx="3183485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191919"/>
                </a:solidFill>
                <a:latin typeface="Arial"/>
              </a:rPr>
              <a:t>1. Start with an equilateral triangle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148" y="3345961"/>
            <a:ext cx="3594442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191919"/>
                </a:solidFill>
                <a:latin typeface="Arial"/>
              </a:rPr>
              <a:t>2. Remove the central triangle (triangle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192" y="3620255"/>
            <a:ext cx="3111777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191919"/>
                </a:solidFill>
                <a:latin typeface="Arial"/>
              </a:rPr>
              <a:t>connecting midpoints of the sides)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6454" y="4686808"/>
            <a:ext cx="107655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Iteration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80" y="6628587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8899" y="6628587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6760" y="6628587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7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89" y="2193371"/>
            <a:ext cx="3085636" cy="23142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3232206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The Sierpinski Triangle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960" y="1954205"/>
            <a:ext cx="386679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Let’s construct the Sierpinski Triangle: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1050" y="2489065"/>
            <a:ext cx="242422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FFFFFF"/>
                </a:solidFill>
                <a:latin typeface="Arial"/>
              </a:rPr>
              <a:t>Construction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147" y="2971239"/>
            <a:ext cx="3183485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191919"/>
                </a:solidFill>
                <a:latin typeface="Arial"/>
              </a:rPr>
              <a:t>1. Start with an equilateral triangle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148" y="3345961"/>
            <a:ext cx="3594442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191919"/>
                </a:solidFill>
                <a:latin typeface="Arial"/>
              </a:rPr>
              <a:t>2. Remove the central triangle (triangle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192" y="3620255"/>
            <a:ext cx="3111777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191919"/>
                </a:solidFill>
                <a:latin typeface="Arial"/>
              </a:rPr>
              <a:t>connecting midpoints of the sides)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148" y="3994977"/>
            <a:ext cx="2508800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191919"/>
                </a:solidFill>
                <a:latin typeface="Arial"/>
              </a:rPr>
              <a:t>3. Repeat for each triangle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6454" y="4686808"/>
            <a:ext cx="107655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Iteration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80" y="6628587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8899" y="6628587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6760" y="6628587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7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89" y="2193371"/>
            <a:ext cx="3085636" cy="23142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3232206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The Sierpinski Triangle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960" y="1954205"/>
            <a:ext cx="386679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Let’s construct the Sierpinski Triangle: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1050" y="2489065"/>
            <a:ext cx="242422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FFFFFF"/>
                </a:solidFill>
                <a:latin typeface="Arial"/>
              </a:rPr>
              <a:t>Construction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147" y="2971239"/>
            <a:ext cx="3183485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191919"/>
                </a:solidFill>
                <a:latin typeface="Arial"/>
              </a:rPr>
              <a:t>1. Start with an equilateral triangle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148" y="3345961"/>
            <a:ext cx="3594442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191919"/>
                </a:solidFill>
                <a:latin typeface="Arial"/>
              </a:rPr>
              <a:t>2. Remove the central triangle (triangle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192" y="3620255"/>
            <a:ext cx="3111777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191919"/>
                </a:solidFill>
                <a:latin typeface="Arial"/>
              </a:rPr>
              <a:t>connecting midpoints of the sides)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148" y="3994977"/>
            <a:ext cx="2508800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191919"/>
                </a:solidFill>
                <a:latin typeface="Arial"/>
              </a:rPr>
              <a:t>3. Repeat for each triangle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148" y="4369700"/>
            <a:ext cx="3328906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191919"/>
                </a:solidFill>
                <a:latin typeface="Arial"/>
              </a:rPr>
              <a:t>4. After infinite iterations, we get the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192" y="4644018"/>
            <a:ext cx="1711993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191919"/>
                </a:solidFill>
                <a:latin typeface="Arial"/>
              </a:rPr>
              <a:t>Sierpinski Triangle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6454" y="4686808"/>
            <a:ext cx="107655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Iteration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0" y="6628587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899" y="6628587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6760" y="6628587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7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72076" y="2910201"/>
            <a:ext cx="3004363" cy="43774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850" b="1" i="0">
                <a:solidFill>
                  <a:srgbClr val="191919"/>
                </a:solidFill>
                <a:latin typeface="Arial"/>
              </a:rPr>
              <a:t>Area &amp; Perimeter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89" y="2193371"/>
            <a:ext cx="3085636" cy="23142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4133965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The Sierpinski Triangle: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158" y="2373407"/>
            <a:ext cx="368060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Now let’s find the area of triangle(s):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1050" y="2908268"/>
            <a:ext cx="1860436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FFFFFF"/>
                </a:solidFill>
                <a:latin typeface="Arial"/>
              </a:rPr>
              <a:t>Area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6454" y="4686808"/>
            <a:ext cx="107655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Iteration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80" y="6628587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8899" y="6628587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6760" y="6628587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8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89" y="2193371"/>
            <a:ext cx="3085636" cy="23142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4133965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The Sierpinski Triangle: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158" y="1220210"/>
            <a:ext cx="368060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Now let’s find the area of triangle(s):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1050" y="1755070"/>
            <a:ext cx="1860436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FFFFFF"/>
                </a:solidFill>
                <a:latin typeface="Arial"/>
              </a:rPr>
              <a:t>Area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8" y="4967251"/>
            <a:ext cx="470536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We cut out one fourth of the area at each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158" y="5284865"/>
            <a:ext cx="324358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So, naturally area is reduced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3461" y="5284865"/>
            <a:ext cx="81737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at 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158" y="5602455"/>
            <a:ext cx="56157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step.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6454" y="4686808"/>
            <a:ext cx="107655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Iteration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80" y="6628589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8899" y="6628589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6760" y="6628589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8 /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89" y="2193371"/>
            <a:ext cx="3085636" cy="23142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4133965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The Sierpinski Triangle: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158" y="1240598"/>
            <a:ext cx="368060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Now let’s find the area of triangle(s):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1050" y="1775459"/>
            <a:ext cx="1860436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FFFFFF"/>
                </a:solidFill>
                <a:latin typeface="Arial"/>
              </a:rPr>
              <a:t>Area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8" y="4946862"/>
            <a:ext cx="470536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We cut out one fourth of the area at each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158" y="5264452"/>
            <a:ext cx="324358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So, naturally area is reduced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3461" y="5264452"/>
            <a:ext cx="81737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at 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158" y="5582067"/>
            <a:ext cx="56157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step.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6454" y="4686808"/>
            <a:ext cx="107655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Iteration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80" y="662856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8899" y="662856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6760" y="6628565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8 / 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89" y="2193368"/>
            <a:ext cx="3085636" cy="23142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4133965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The Sierpinski Triangle: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158" y="886967"/>
            <a:ext cx="368060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Now let’s find the area of triangle(s):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1050" y="1421828"/>
            <a:ext cx="1860436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FFFFFF"/>
                </a:solidFill>
                <a:latin typeface="Arial"/>
              </a:rPr>
              <a:t>Area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8" y="5624511"/>
            <a:ext cx="453227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The area of the Sierpinski Triangle is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158" y="5942101"/>
            <a:ext cx="318256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even though it is a 2D shape.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6454" y="4686805"/>
            <a:ext cx="107655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Iteration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80" y="6628561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8899" y="6628561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6760" y="6628561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8 / 31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89" y="2193371"/>
            <a:ext cx="3085636" cy="23142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4805841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The Sierpinski Triangle: Perimeter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158" y="2457555"/>
            <a:ext cx="285627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Now let’s find the perimeter: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1050" y="2992416"/>
            <a:ext cx="239484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FFFFFF"/>
                </a:solidFill>
                <a:latin typeface="Arial"/>
              </a:rPr>
              <a:t>Perimeter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6454" y="4686808"/>
            <a:ext cx="107655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Iteration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80" y="6628562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8899" y="6628562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6760" y="6628562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9 / 31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89" y="2193371"/>
            <a:ext cx="3085636" cy="23142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4805841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The Sierpinski Triangle: Perimeter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158" y="1161995"/>
            <a:ext cx="285627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Now let’s find the perimeter: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1050" y="1696855"/>
            <a:ext cx="239484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FFFFFF"/>
                </a:solidFill>
                <a:latin typeface="Arial"/>
              </a:rPr>
              <a:t>Perimeter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8" y="4045227"/>
            <a:ext cx="462876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We add half of the previous perimeter at 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158" y="4362842"/>
            <a:ext cx="399537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step. This is because we add the same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158" y="4680432"/>
            <a:ext cx="457859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number of triangles as the last step, but 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158" y="4998046"/>
            <a:ext cx="435127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triangle is half the size of the previous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158" y="5315661"/>
            <a:ext cx="461362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As a result, the perimeter grows by a factor 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279" y="5633252"/>
            <a:ext cx="136556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at each step.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6454" y="4686808"/>
            <a:ext cx="107655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Iteration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0" y="6628587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899" y="6628587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6760" y="6628587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9 / 31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89" y="2193371"/>
            <a:ext cx="3085636" cy="23142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4805841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The Sierpinski Triangle: Perimeter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158" y="901889"/>
            <a:ext cx="285627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Now let’s find the perimeter: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1050" y="1436750"/>
            <a:ext cx="239484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FFFFFF"/>
                </a:solidFill>
                <a:latin typeface="Arial"/>
              </a:rPr>
              <a:t>Perimeter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8" y="4305332"/>
            <a:ext cx="462876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We add half of the previous perimeter at 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158" y="4622947"/>
            <a:ext cx="399537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step. This is because we add the same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158" y="4940537"/>
            <a:ext cx="457859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number of triangles as the last step, but 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158" y="5258151"/>
            <a:ext cx="435127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triangle is half the size of the previous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158" y="5575767"/>
            <a:ext cx="461362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As a result, the perimeter grows by a factor 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279" y="5893357"/>
            <a:ext cx="136556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at each step.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6454" y="4686808"/>
            <a:ext cx="107655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Iteration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0" y="6628589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899" y="6628589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6760" y="6628589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9 / 31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89" y="2193371"/>
            <a:ext cx="3085636" cy="23142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4805841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The Sierpinski Triangle: Perimeter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158" y="1038381"/>
            <a:ext cx="285627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Now let’s find the perimeter: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1050" y="1573241"/>
            <a:ext cx="239484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FFFFFF"/>
                </a:solidFill>
                <a:latin typeface="Arial"/>
              </a:rPr>
              <a:t>Perimeter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8" y="5473104"/>
            <a:ext cx="380149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The Sierpinski Triangle has infinite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158" y="5790719"/>
            <a:ext cx="263685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perimeter but zero 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6454" y="4686808"/>
            <a:ext cx="107655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Iteration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80" y="6628588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8899" y="6628588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6760" y="6628588"/>
            <a:ext cx="36229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9 / 31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3119223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Handoff to Speaker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62" y="1479105"/>
            <a:ext cx="498601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We’ve now seen something strange, and precise: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792" y="2022677"/>
            <a:ext cx="5135151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A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2D shape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(Sierpinski Triangle) with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zero area</a:t>
            </a:r>
            <a:r>
              <a:rPr sz="1780" b="0" i="0">
                <a:solidFill>
                  <a:srgbClr val="191919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792" y="2440695"/>
            <a:ext cx="676957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A shape built from a rule so simple a child could apply it by hand.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792" y="2858738"/>
            <a:ext cx="604421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No matter how far we zoom in, there’s always more detail.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74" y="6628587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8893" y="6628587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6945" y="6628587"/>
            <a:ext cx="432220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10 / 31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3119223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Handoff to Speaker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62" y="1479105"/>
            <a:ext cx="498601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We’ve now seen something strange, and precise: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792" y="2022677"/>
            <a:ext cx="5135151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A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2D shape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(Sierpinski Triangle) with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zero area</a:t>
            </a:r>
            <a:r>
              <a:rPr sz="1780" b="0" i="0">
                <a:solidFill>
                  <a:srgbClr val="191919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792" y="2440695"/>
            <a:ext cx="676957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A shape built from a rule so simple a child could apply it by hand.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792" y="2858738"/>
            <a:ext cx="604421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No matter how far we zoom in, there’s always more detail.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781" y="3952360"/>
            <a:ext cx="5896886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If it isn’t a line, and it isn’t a surface — what </a:t>
            </a:r>
            <a:r>
              <a:rPr sz="1780" b="1" i="0">
                <a:solidFill>
                  <a:srgbClr val="9B4632"/>
                </a:solidFill>
                <a:latin typeface="Arial"/>
              </a:rPr>
              <a:t>is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its true di-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7781" y="4269975"/>
            <a:ext cx="105576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mension?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77" y="6628590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8896" y="6628590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948" y="6628590"/>
            <a:ext cx="432220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10 / 31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3119223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Handoff to Speaker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62" y="1479105"/>
            <a:ext cx="498601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We’ve now seen something strange, and precise: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792" y="2022677"/>
            <a:ext cx="5135151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A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2D shape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(Sierpinski Triangle) with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zero area</a:t>
            </a:r>
            <a:r>
              <a:rPr sz="1780" b="0" i="0">
                <a:solidFill>
                  <a:srgbClr val="191919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792" y="2440695"/>
            <a:ext cx="676957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A shape built from a rule so simple a child could apply it by hand.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792" y="2858738"/>
            <a:ext cx="604421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No matter how far we zoom in, there’s always more detail.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781" y="3952360"/>
            <a:ext cx="5896886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If it isn’t a line, and it isn’t a surface — what </a:t>
            </a:r>
            <a:r>
              <a:rPr sz="1780" b="1" i="0">
                <a:solidFill>
                  <a:srgbClr val="9B4632"/>
                </a:solidFill>
                <a:latin typeface="Arial"/>
              </a:rPr>
              <a:t>is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its true di-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7781" y="4269975"/>
            <a:ext cx="105576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mension?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61" y="5267755"/>
            <a:ext cx="750170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That number is exactly what Hausdorff was reaching for in 1918 — and it’s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61" y="5585370"/>
            <a:ext cx="3646706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where Speaker 2 picks up the 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77" y="6628590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8896" y="6628590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948" y="6628590"/>
            <a:ext cx="432220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10 / 31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72076" y="2910201"/>
            <a:ext cx="3205022" cy="43774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850" b="1" i="0">
                <a:solidFill>
                  <a:srgbClr val="191919"/>
                </a:solidFill>
                <a:latin typeface="Arial"/>
              </a:rPr>
              <a:t>Fractal Dimension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28502" y="1610456"/>
            <a:ext cx="5245123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0" i="1">
                <a:solidFill>
                  <a:srgbClr val="7A5C4B"/>
                </a:solidFill>
                <a:latin typeface="Arial"/>
              </a:rPr>
              <a:t>Let’s talk about a property of fractals...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9273" y="3587402"/>
            <a:ext cx="5725470" cy="7289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5140" b="1" i="0">
                <a:solidFill>
                  <a:srgbClr val="9B4632"/>
                </a:solidFill>
                <a:latin typeface="Arial"/>
              </a:rPr>
              <a:t>Fractal Dimension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2364" y="4739554"/>
            <a:ext cx="6659300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6B6257"/>
                </a:solidFill>
                <a:latin typeface="Arial"/>
              </a:rPr>
              <a:t>What does it mean for a shape to have a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non-integer</a:t>
            </a:r>
            <a:r>
              <a:rPr sz="1780" b="0" i="0">
                <a:solidFill>
                  <a:srgbClr val="6B6257"/>
                </a:solidFill>
                <a:latin typeface="Arial"/>
              </a:rPr>
              <a:t> dimension?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878" y="6628588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8897" y="6628588"/>
            <a:ext cx="51758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6975" y="6628588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11 / 31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3144833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Dimensions We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62" y="724024"/>
            <a:ext cx="4007244" cy="2838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630" b="0" i="0">
                <a:solidFill>
                  <a:srgbClr val="191919"/>
                </a:solidFill>
                <a:latin typeface="Arial"/>
              </a:rPr>
              <a:t>We are all familiar with integer dimensions: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4028" y="1890588"/>
            <a:ext cx="424978" cy="26073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6B6257"/>
                </a:solidFill>
                <a:latin typeface="Arial"/>
              </a:rPr>
              <a:t>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97143" y="1499010"/>
            <a:ext cx="500714" cy="40837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620" b="1" i="0">
                <a:solidFill>
                  <a:srgbClr val="9B4632"/>
                </a:solidFill>
                <a:latin typeface="Arial"/>
              </a:rPr>
              <a:t>1D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878" y="6628588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897" y="6628588"/>
            <a:ext cx="51758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975" y="6628588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12 / 31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3144833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Dimensions We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62" y="724024"/>
            <a:ext cx="4007244" cy="2838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630" b="0" i="0">
                <a:solidFill>
                  <a:srgbClr val="191919"/>
                </a:solidFill>
                <a:latin typeface="Arial"/>
              </a:rPr>
              <a:t>We are all familiar with integer dimensions: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4028" y="1890588"/>
            <a:ext cx="424978" cy="26073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6B6257"/>
                </a:solidFill>
                <a:latin typeface="Arial"/>
              </a:rPr>
              <a:t>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97143" y="1499010"/>
            <a:ext cx="500714" cy="40837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620" b="1" i="0">
                <a:solidFill>
                  <a:srgbClr val="9B4632"/>
                </a:solidFill>
                <a:latin typeface="Arial"/>
              </a:rPr>
              <a:t>1D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24504" y="3662673"/>
            <a:ext cx="670231" cy="2607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6B6257"/>
                </a:solidFill>
                <a:latin typeface="Arial"/>
              </a:rPr>
              <a:t>Square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97143" y="2811674"/>
            <a:ext cx="500714" cy="40837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620" b="1" i="0">
                <a:solidFill>
                  <a:srgbClr val="9B4632"/>
                </a:solidFill>
                <a:latin typeface="Arial"/>
              </a:rPr>
              <a:t>2D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78" y="6628588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897" y="6628588"/>
            <a:ext cx="51758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975" y="6628588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12 / 31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3144833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Dimensions We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62" y="724024"/>
            <a:ext cx="4007244" cy="2838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630" b="0" i="0">
                <a:solidFill>
                  <a:srgbClr val="191919"/>
                </a:solidFill>
                <a:latin typeface="Arial"/>
              </a:rPr>
              <a:t>We are all familiar with integer dimensions: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4028" y="1890588"/>
            <a:ext cx="424978" cy="26073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6B6257"/>
                </a:solidFill>
                <a:latin typeface="Arial"/>
              </a:rPr>
              <a:t>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97143" y="1499010"/>
            <a:ext cx="500714" cy="40837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620" b="1" i="0">
                <a:solidFill>
                  <a:srgbClr val="9B4632"/>
                </a:solidFill>
                <a:latin typeface="Arial"/>
              </a:rPr>
              <a:t>1D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24504" y="3662673"/>
            <a:ext cx="670231" cy="2607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6B6257"/>
                </a:solidFill>
                <a:latin typeface="Arial"/>
              </a:rPr>
              <a:t>Square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97143" y="2811674"/>
            <a:ext cx="500714" cy="40837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620" b="1" i="0">
                <a:solidFill>
                  <a:srgbClr val="9B4632"/>
                </a:solidFill>
                <a:latin typeface="Arial"/>
              </a:rPr>
              <a:t>2D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1005" y="5467590"/>
            <a:ext cx="517248" cy="2607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6B6257"/>
                </a:solidFill>
                <a:latin typeface="Arial"/>
              </a:rPr>
              <a:t>Cube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7143" y="4518141"/>
            <a:ext cx="500714" cy="40837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620" b="1" i="0">
                <a:solidFill>
                  <a:srgbClr val="9B4632"/>
                </a:solidFill>
                <a:latin typeface="Arial"/>
              </a:rPr>
              <a:t>3D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3284" y="6116264"/>
            <a:ext cx="4490553" cy="2838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630" b="0" i="1">
                <a:solidFill>
                  <a:srgbClr val="6B6257"/>
                </a:solidFill>
                <a:latin typeface="Arial"/>
              </a:rPr>
              <a:t>Dimensions are always whole numbers... right?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78" y="6628588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8897" y="6628588"/>
            <a:ext cx="51758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975" y="6628588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12 / 31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535" y="2333787"/>
            <a:ext cx="2622572" cy="19669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3263842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What About This One?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6545" y="1521719"/>
            <a:ext cx="3524157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0" i="0">
                <a:solidFill>
                  <a:srgbClr val="191919"/>
                </a:solidFill>
                <a:latin typeface="Arial"/>
              </a:rPr>
              <a:t>What dimension does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6" y="2196515"/>
            <a:ext cx="1789332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0" i="0">
                <a:solidFill>
                  <a:srgbClr val="191919"/>
                </a:solidFill>
                <a:latin typeface="Arial"/>
              </a:rPr>
              <a:t>shape have?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736" y="2866947"/>
            <a:ext cx="148872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1">
                <a:solidFill>
                  <a:srgbClr val="191919"/>
                </a:solidFill>
                <a:latin typeface="Arial"/>
              </a:rPr>
              <a:t>Any guesses?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266" y="3492480"/>
            <a:ext cx="242399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It lives in 2D space...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266" y="3910498"/>
            <a:ext cx="2279153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But it has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zero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266" y="4328541"/>
            <a:ext cx="2575622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And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infinite perimeter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736" y="4960898"/>
            <a:ext cx="420258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It’s not quite 2D, but it’s clearly more than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736" y="5278513"/>
            <a:ext cx="61626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1D...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7890" y="4479927"/>
            <a:ext cx="191647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Sierpinski Triangle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0" y="6628587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899" y="6628587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976" y="6628587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13 / 31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631" y="2333791"/>
            <a:ext cx="2622573" cy="19669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3263842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What About This One?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9654" y="1713572"/>
            <a:ext cx="2629610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FFFFFF"/>
                </a:solidFill>
                <a:latin typeface="Arial"/>
              </a:rPr>
              <a:t>Sierpinski Dimension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9654" y="2266429"/>
            <a:ext cx="3533723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The Sierpinski Triangle has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9654" y="2612925"/>
            <a:ext cx="2321545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fractal dimension of: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8140" y="3017509"/>
            <a:ext cx="1835123" cy="77920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5540" b="1" i="0">
                <a:solidFill>
                  <a:srgbClr val="9B4632"/>
                </a:solidFill>
                <a:latin typeface="Arial"/>
              </a:rPr>
              <a:t>1.585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8066" y="3698910"/>
            <a:ext cx="316989" cy="43774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850" b="1" i="0">
                <a:solidFill>
                  <a:srgbClr val="E69650"/>
                </a:solidFill>
                <a:latin typeface="Arial"/>
              </a:rPr>
              <a:t>!!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9654" y="4467229"/>
            <a:ext cx="3533723" cy="3343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A </a:t>
            </a:r>
            <a:r>
              <a:rPr sz="1980" b="1" i="0">
                <a:solidFill>
                  <a:srgbClr val="9B4632"/>
                </a:solidFill>
                <a:latin typeface="Arial"/>
              </a:rPr>
              <a:t>non-integer </a:t>
            </a:r>
            <a:r>
              <a:rPr sz="1980" b="0" i="0">
                <a:solidFill>
                  <a:srgbClr val="000000"/>
                </a:solidFill>
                <a:latin typeface="Arial"/>
              </a:rPr>
              <a:t>dimension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9654" y="4813725"/>
            <a:ext cx="3533724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between a line (1D) and a filled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9654" y="5160196"/>
            <a:ext cx="1530916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surface (2D).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80" y="6628590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8899" y="6628590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976" y="6628590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13 / 31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3444616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Self-Similarity &amp;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6476" y="2386577"/>
            <a:ext cx="1959748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9B4632"/>
                </a:solidFill>
                <a:latin typeface="Arial"/>
              </a:rPr>
              <a:t>Scaling a Line (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4628" y="2379456"/>
            <a:ext cx="229605" cy="3343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9B4632"/>
                </a:solidFill>
                <a:latin typeface="Arial"/>
              </a:rPr>
              <a:t>)</a:t>
            </a:r>
            <a:r>
              <a:rPr sz="1980" b="0" i="0">
                <a:solidFill>
                  <a:srgbClr val="000000"/>
                </a:solidFill>
                <a:latin typeface="Arial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9106" y="2379456"/>
            <a:ext cx="1049106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Scale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21750" y="2386577"/>
            <a:ext cx="215796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9B4632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8825" y="2725927"/>
            <a:ext cx="927588" cy="3343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9B4632"/>
                </a:solidFill>
                <a:latin typeface="Arial"/>
              </a:rPr>
              <a:t>pieces</a:t>
            </a:r>
            <a:r>
              <a:rPr sz="1980" b="0" i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6823" y="2725927"/>
            <a:ext cx="1745833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Scale again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3829" y="2725927"/>
            <a:ext cx="871598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pieces.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872" y="4640489"/>
            <a:ext cx="1304049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1" i="0">
                <a:solidFill>
                  <a:srgbClr val="9B4632"/>
                </a:solidFill>
                <a:latin typeface="Arial"/>
              </a:rPr>
              <a:t>Original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4639" y="4640489"/>
            <a:ext cx="868990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1" i="0">
                <a:solidFill>
                  <a:srgbClr val="9B4632"/>
                </a:solidFill>
                <a:latin typeface="Arial"/>
              </a:rPr>
              <a:t>2 pieces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0719" y="4640489"/>
            <a:ext cx="868988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1" i="0">
                <a:solidFill>
                  <a:srgbClr val="9B4632"/>
                </a:solidFill>
                <a:latin typeface="Arial"/>
              </a:rPr>
              <a:t>4 pieces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78" y="6628588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897" y="6628588"/>
            <a:ext cx="51758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949" y="6628588"/>
            <a:ext cx="432220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14 / 31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3444616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Self-Similarity &amp;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2635" y="2066190"/>
            <a:ext cx="2297190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9B4632"/>
                </a:solidFill>
                <a:latin typeface="Arial"/>
              </a:rPr>
              <a:t>Scaling a Square (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73128" y="2059069"/>
            <a:ext cx="1414167" cy="3343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9B4632"/>
                </a:solidFill>
                <a:latin typeface="Arial"/>
              </a:rPr>
              <a:t>) — Step 1</a:t>
            </a:r>
            <a:r>
              <a:rPr sz="1980" b="0" i="0">
                <a:solidFill>
                  <a:srgbClr val="000000"/>
                </a:solidFill>
                <a:latin typeface="Arial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62168" y="2059069"/>
            <a:ext cx="1049358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Scale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52301" y="2405540"/>
            <a:ext cx="2657731" cy="3343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9B4632"/>
                </a:solidFill>
                <a:latin typeface="Arial"/>
              </a:rPr>
              <a:t>4 self-similar pieces </a:t>
            </a:r>
            <a:r>
              <a:rPr sz="1980" b="0" i="0">
                <a:solidFill>
                  <a:srgbClr val="000000"/>
                </a:solidFill>
                <a:latin typeface="Arial"/>
              </a:rPr>
              <a:t>(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6334" y="2405540"/>
            <a:ext cx="648143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grid).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2" y="4934566"/>
            <a:ext cx="1574004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1" i="0">
                <a:solidFill>
                  <a:srgbClr val="9B4632"/>
                </a:solidFill>
                <a:latin typeface="Arial"/>
              </a:rPr>
              <a:t>Original Square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240" y="4904223"/>
            <a:ext cx="868990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1" i="0">
                <a:solidFill>
                  <a:srgbClr val="9B4632"/>
                </a:solidFill>
                <a:latin typeface="Arial"/>
              </a:rPr>
              <a:t>4 pieces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78" y="6628562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8897" y="6628562"/>
            <a:ext cx="51758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6975" y="6628562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14 / 31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3444616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Self-Similarity &amp;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8241" y="2060116"/>
            <a:ext cx="2297191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9B4632"/>
                </a:solidFill>
                <a:latin typeface="Arial"/>
              </a:rPr>
              <a:t>Scaling a Square (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30981" y="2052995"/>
            <a:ext cx="1414167" cy="3343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9B4632"/>
                </a:solidFill>
                <a:latin typeface="Arial"/>
              </a:rPr>
              <a:t>) — Step 2</a:t>
            </a:r>
            <a:r>
              <a:rPr sz="1980" b="0" i="0">
                <a:solidFill>
                  <a:srgbClr val="000000"/>
                </a:solidFill>
                <a:latin typeface="Arial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0021" y="2052995"/>
            <a:ext cx="2015738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Scale each piece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3045" y="2399466"/>
            <a:ext cx="337566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2131" y="2399466"/>
            <a:ext cx="689069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again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1990" y="2399466"/>
            <a:ext cx="2252247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self-similar pieces (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53044" y="2399466"/>
            <a:ext cx="648143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grid)!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203" y="4928492"/>
            <a:ext cx="835245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1" i="0">
                <a:solidFill>
                  <a:srgbClr val="9B4632"/>
                </a:solidFill>
                <a:latin typeface="Arial"/>
              </a:rPr>
              <a:t>Original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4718" y="4898149"/>
            <a:ext cx="868990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1" i="0">
                <a:solidFill>
                  <a:srgbClr val="9B4632"/>
                </a:solidFill>
                <a:latin typeface="Arial"/>
              </a:rPr>
              <a:t>4 pieces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87034" y="4940639"/>
            <a:ext cx="980667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1" i="0">
                <a:solidFill>
                  <a:srgbClr val="9B4632"/>
                </a:solidFill>
                <a:latin typeface="Arial"/>
              </a:rPr>
              <a:t>16 pieces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78" y="6628562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897" y="6628562"/>
            <a:ext cx="51758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949" y="6628562"/>
            <a:ext cx="432220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14 / 31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3444616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Self-Similarity &amp;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4077" y="1750566"/>
            <a:ext cx="2071225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9B4632"/>
                </a:solidFill>
                <a:latin typeface="Arial"/>
              </a:rPr>
              <a:t>Scaling a Cube (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3999" y="1743445"/>
            <a:ext cx="229605" cy="3343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9B4632"/>
                </a:solidFill>
                <a:latin typeface="Arial"/>
              </a:rPr>
              <a:t>)</a:t>
            </a:r>
            <a:r>
              <a:rPr sz="1980" b="0" i="0">
                <a:solidFill>
                  <a:srgbClr val="000000"/>
                </a:solidFill>
                <a:latin typeface="Arial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38477" y="1743445"/>
            <a:ext cx="1049357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Scale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1808" y="2089941"/>
            <a:ext cx="2657730" cy="3343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9B4632"/>
                </a:solidFill>
                <a:latin typeface="Arial"/>
              </a:rPr>
              <a:t>8 self-similar pieces </a:t>
            </a:r>
            <a:r>
              <a:rPr sz="1980" b="0" i="0">
                <a:solidFill>
                  <a:srgbClr val="000000"/>
                </a:solidFill>
                <a:latin typeface="Arial"/>
              </a:rPr>
              <a:t>(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0668" y="2089941"/>
            <a:ext cx="1331563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grid in 3D).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8009" y="5276500"/>
            <a:ext cx="1393230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1" i="0">
                <a:solidFill>
                  <a:srgbClr val="9B4632"/>
                </a:solidFill>
                <a:latin typeface="Arial"/>
              </a:rPr>
              <a:t>Original Cube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3262" y="3932230"/>
            <a:ext cx="64156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7E8C57"/>
                </a:solidFill>
                <a:latin typeface="Arial"/>
              </a:rP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0561" y="5276500"/>
            <a:ext cx="1828895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1" i="0">
                <a:solidFill>
                  <a:srgbClr val="9B4632"/>
                </a:solidFill>
                <a:latin typeface="Arial"/>
              </a:rPr>
              <a:t>8 separated cubes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78" y="6628562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8897" y="6628562"/>
            <a:ext cx="51758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975" y="6628562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14 / 31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771" y="3446170"/>
            <a:ext cx="1388221" cy="10411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3444616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Self-Similarity &amp;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69778" y="1345955"/>
            <a:ext cx="2804356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9B4632"/>
                </a:solidFill>
                <a:latin typeface="Arial"/>
              </a:rPr>
              <a:t>Do You See a Pattern?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45462" y="1685305"/>
            <a:ext cx="4350965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Each scaling step multiplies pieces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52529" y="1685305"/>
            <a:ext cx="145997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000000"/>
                </a:solidFill>
                <a:latin typeface="Arial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391" y="2604589"/>
            <a:ext cx="75432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191919"/>
                </a:solidFill>
                <a:latin typeface="Arial"/>
              </a:rPr>
              <a:t>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5994" y="2604589"/>
            <a:ext cx="66665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191919"/>
                </a:solidFill>
                <a:latin typeface="Arial"/>
              </a:rPr>
              <a:t>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7886" y="2604589"/>
            <a:ext cx="95408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191919"/>
                </a:solidFill>
                <a:latin typeface="Arial"/>
              </a:rPr>
              <a:t>1st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6982" y="2604589"/>
            <a:ext cx="102932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191919"/>
                </a:solidFill>
                <a:latin typeface="Arial"/>
              </a:rPr>
              <a:t>2nd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391" y="3140794"/>
            <a:ext cx="503277" cy="30216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7549" y="3147203"/>
            <a:ext cx="20183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191919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391" y="3553671"/>
            <a:ext cx="80358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Square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7549" y="3560080"/>
            <a:ext cx="20183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191919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91" y="3966573"/>
            <a:ext cx="61626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Cube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7566" y="3972982"/>
            <a:ext cx="20183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191919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9654" y="4809068"/>
            <a:ext cx="131698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FFFFFF"/>
                </a:solidFill>
                <a:latin typeface="Arial"/>
              </a:rPr>
              <a:t>The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8292" y="5499061"/>
            <a:ext cx="197454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Number of pieces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6642" y="5123627"/>
            <a:ext cx="2778954" cy="28275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191919"/>
                </a:solidFill>
                <a:latin typeface="Arial"/>
              </a:rPr>
              <a:t>What if the shape is a</a:t>
            </a:r>
            <a:r>
              <a:rPr sz="1580" b="1" i="0">
                <a:solidFill>
                  <a:srgbClr val="9B4632"/>
                </a:solidFill>
                <a:latin typeface="Arial"/>
              </a:rPr>
              <a:t> fractal</a:t>
            </a:r>
            <a:r>
              <a:rPr sz="1580" b="0" i="0">
                <a:solidFill>
                  <a:srgbClr val="191919"/>
                </a:solidFill>
                <a:latin typeface="Arial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0" y="6628588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8899" y="6628588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6976" y="6628588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14 / 31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3290958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The Self-Similarity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0544" y="790901"/>
            <a:ext cx="224322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After scaling by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71790" y="790901"/>
            <a:ext cx="374183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, the number of self-similar pieces is: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6253" y="2335997"/>
            <a:ext cx="1083253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9B4632"/>
                </a:solidFill>
                <a:latin typeface="Arial"/>
              </a:rPr>
              <a:t>Square (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98441" y="2335997"/>
            <a:ext cx="159807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9B4632"/>
                </a:solidFill>
                <a:latin typeface="Arial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2919" y="2328876"/>
            <a:ext cx="1869863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191919"/>
                </a:solidFill>
                <a:latin typeface="Arial"/>
              </a:rPr>
              <a:t>with scale factor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1738" y="2328877"/>
            <a:ext cx="145997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191919"/>
                </a:solidFill>
                <a:latin typeface="Arial"/>
              </a:rPr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5034" y="2780488"/>
            <a:ext cx="871598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0">
                <a:solidFill>
                  <a:srgbClr val="191919"/>
                </a:solidFill>
                <a:latin typeface="Arial"/>
              </a:rPr>
              <a:t> pieces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4138" y="5211203"/>
            <a:ext cx="1574003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1" i="0">
                <a:solidFill>
                  <a:srgbClr val="9B4632"/>
                </a:solidFill>
                <a:latin typeface="Arial"/>
              </a:rPr>
              <a:t>Original Square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0156" y="3905517"/>
            <a:ext cx="64156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7E8C57"/>
                </a:solidFill>
                <a:latin typeface="Arial"/>
              </a:rP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5959" y="5211203"/>
            <a:ext cx="1873686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1" i="0">
                <a:solidFill>
                  <a:srgbClr val="9B4632"/>
                </a:solidFill>
                <a:latin typeface="Arial"/>
              </a:rPr>
              <a:t>4 separated pieces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78" y="6628588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897" y="6628588"/>
            <a:ext cx="51758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949" y="6628588"/>
            <a:ext cx="432220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15 / 31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3290958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The Self-Similarity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2519" y="787979"/>
            <a:ext cx="2197500" cy="2973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39" b="0" i="0">
                <a:solidFill>
                  <a:srgbClr val="191919"/>
                </a:solidFill>
                <a:latin typeface="Arial"/>
              </a:rPr>
              <a:t>After scaling by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4364" y="787979"/>
            <a:ext cx="3664493" cy="2973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39" b="0" i="0">
                <a:solidFill>
                  <a:srgbClr val="191919"/>
                </a:solidFill>
                <a:latin typeface="Arial"/>
              </a:rPr>
              <a:t>, the number of self-similar pieces is: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94353" y="2300498"/>
            <a:ext cx="840806" cy="32197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39" b="1" i="0">
                <a:solidFill>
                  <a:srgbClr val="9B4632"/>
                </a:solidFill>
                <a:latin typeface="Arial"/>
              </a:rPr>
              <a:t>Cube (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19850" y="2300498"/>
            <a:ext cx="158043" cy="32197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39" b="1" i="0">
                <a:solidFill>
                  <a:srgbClr val="9B4632"/>
                </a:solidFill>
                <a:latin typeface="Arial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5794" y="2293527"/>
            <a:ext cx="1832017" cy="32197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39" b="0" i="0">
                <a:solidFill>
                  <a:srgbClr val="191919"/>
                </a:solidFill>
                <a:latin typeface="Arial"/>
              </a:rPr>
              <a:t>with scale factor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2318" y="2293527"/>
            <a:ext cx="144525" cy="32197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39" b="0" i="0">
                <a:solidFill>
                  <a:srgbClr val="191919"/>
                </a:solidFill>
                <a:latin typeface="Arial"/>
              </a:rPr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7156" y="2735610"/>
            <a:ext cx="854815" cy="32197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39" b="0" i="0">
                <a:solidFill>
                  <a:srgbClr val="191919"/>
                </a:solidFill>
                <a:latin typeface="Arial"/>
              </a:rPr>
              <a:t> pieces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820" y="5688634"/>
            <a:ext cx="1365441" cy="272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50" b="1" i="0">
                <a:solidFill>
                  <a:srgbClr val="9B4632"/>
                </a:solidFill>
                <a:latin typeface="Arial"/>
              </a:rPr>
              <a:t>Original Cube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0789" y="4403516"/>
            <a:ext cx="629640" cy="2973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39" b="1" i="0">
                <a:solidFill>
                  <a:srgbClr val="7E8C57"/>
                </a:solidFill>
                <a:latin typeface="Arial"/>
              </a:rP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0941" y="5688634"/>
            <a:ext cx="2349332" cy="272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50" b="1" i="0">
                <a:solidFill>
                  <a:srgbClr val="9B4632"/>
                </a:solidFill>
                <a:latin typeface="Arial"/>
              </a:rPr>
              <a:t>8 separated small cubes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4766" y="6358632"/>
            <a:ext cx="5382599" cy="27283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50" b="0" i="1">
                <a:solidFill>
                  <a:srgbClr val="191919"/>
                </a:solidFill>
                <a:latin typeface="Arial"/>
              </a:rPr>
              <a:t>Can we use this same rule to find the dimension of a</a:t>
            </a:r>
            <a:r>
              <a:rPr sz="1550" b="1" i="1">
                <a:solidFill>
                  <a:srgbClr val="9B4632"/>
                </a:solidFill>
                <a:latin typeface="Arial"/>
              </a:rPr>
              <a:t> fractal</a:t>
            </a:r>
            <a:r>
              <a:rPr sz="1550" b="0" i="1">
                <a:solidFill>
                  <a:srgbClr val="191919"/>
                </a:solidFill>
                <a:latin typeface="Arial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78" y="6628588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8897" y="6628588"/>
            <a:ext cx="51758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975" y="6628588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15 / 31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535" y="2468639"/>
            <a:ext cx="2622572" cy="19669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5163472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Dimension of the Sierpinski Triangle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9564" y="2462214"/>
            <a:ext cx="395673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Let’s apply the self-similarity rule to 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736" y="2779829"/>
            <a:ext cx="2145154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Sierpinski Triangle</a:t>
            </a:r>
            <a:r>
              <a:rPr sz="1780" b="0" i="0">
                <a:solidFill>
                  <a:srgbClr val="191919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9654" y="3529004"/>
            <a:ext cx="75319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9654" y="4083001"/>
            <a:ext cx="321827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Scale the Sierpinski Triangle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6851" y="4083001"/>
            <a:ext cx="13901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7443" y="4595272"/>
            <a:ext cx="90165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7E8C57"/>
                </a:solidFill>
                <a:latin typeface="Arial"/>
              </a:rPr>
              <a:t>scale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80" y="6628586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8899" y="6628586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6976" y="6628586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16 / 31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913" y="2395558"/>
            <a:ext cx="1233867" cy="925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707" y="3488549"/>
            <a:ext cx="1233867" cy="925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144" y="3488549"/>
            <a:ext cx="1233867" cy="925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068" y="127907"/>
            <a:ext cx="5163472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Dimension of the Sierpinski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9654" y="2643727"/>
            <a:ext cx="312698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FFFFFF"/>
                </a:solidFill>
                <a:latin typeface="Arial"/>
              </a:rPr>
              <a:t>Step 2 — Self-Similar Pieces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9654" y="3175270"/>
            <a:ext cx="3533722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We get exactly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3</a:t>
            </a:r>
            <a:r>
              <a:rPr sz="1780" b="0" i="0">
                <a:solidFill>
                  <a:srgbClr val="000000"/>
                </a:solidFill>
                <a:latin typeface="Arial"/>
              </a:rPr>
              <a:t> self-similar copies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9654" y="3492860"/>
            <a:ext cx="229813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of the original triangle.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9654" y="3953342"/>
            <a:ext cx="353372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Each smaller triangle is a perfect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9654" y="4270957"/>
            <a:ext cx="1816146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replica, scaled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5629" y="4270957"/>
            <a:ext cx="13901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4563" y="4578695"/>
            <a:ext cx="1523110" cy="43774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850" b="1" i="0">
                <a:solidFill>
                  <a:srgbClr val="9B4632"/>
                </a:solidFill>
                <a:latin typeface="Arial"/>
              </a:rPr>
              <a:t>3 copies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0" y="6628588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899" y="6628588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976" y="6628588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16 / 31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913" y="2395558"/>
            <a:ext cx="1233867" cy="925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707" y="3488549"/>
            <a:ext cx="1233867" cy="925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144" y="3488549"/>
            <a:ext cx="1233867" cy="925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068" y="127907"/>
            <a:ext cx="5163472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Dimension of the Sierpinski Triangle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9654" y="2462301"/>
            <a:ext cx="253720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FFFFFF"/>
                </a:solidFill>
                <a:latin typeface="Arial"/>
              </a:rPr>
              <a:t>Step 3 — The Equation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9654" y="3059570"/>
            <a:ext cx="653772" cy="30216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Using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2945" y="3059570"/>
            <a:ext cx="139018" cy="30216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4563" y="4578695"/>
            <a:ext cx="1523110" cy="43774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850" b="1" i="0">
                <a:solidFill>
                  <a:srgbClr val="9B4632"/>
                </a:solidFill>
                <a:latin typeface="Arial"/>
              </a:rPr>
              <a:t>3 copies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80" y="6628562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8899" y="6628562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6976" y="6628562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16 / 31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011" y="2423476"/>
            <a:ext cx="2159509" cy="1619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5163472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Dimension of the Sierpinski Triangle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9654" y="1670469"/>
            <a:ext cx="228163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FFFFFF"/>
                </a:solidFill>
                <a:latin typeface="Arial"/>
              </a:rPr>
              <a:t>Step 4 — Solving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3569" y="4257362"/>
            <a:ext cx="1458210" cy="62856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4350" b="1" i="0">
                <a:solidFill>
                  <a:srgbClr val="9B4632"/>
                </a:solidFill>
                <a:latin typeface="Arial"/>
              </a:rPr>
              <a:t>1.585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736" y="5205430"/>
            <a:ext cx="3946338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Not an integer!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— strictly between 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6" y="5523020"/>
            <a:ext cx="239010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(line) and 2D (surface).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80" y="6628562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899" y="6628562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976" y="6628562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16 / 31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535" y="1825661"/>
            <a:ext cx="2622572" cy="9260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089" y="4312096"/>
            <a:ext cx="678384" cy="23955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214" y="3864130"/>
            <a:ext cx="546654" cy="70727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107" y="3863655"/>
            <a:ext cx="546653" cy="70727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228" y="4312096"/>
            <a:ext cx="678384" cy="2395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3068" y="127907"/>
            <a:ext cx="3739277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Similarly: The Koch Curve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564" y="2262395"/>
            <a:ext cx="3922838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The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Koch Curve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can be divided into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736" y="2580010"/>
            <a:ext cx="350095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self-similar pieces, each scaled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511" y="2580010"/>
            <a:ext cx="13901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9654" y="3329184"/>
            <a:ext cx="702806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FFFFFF"/>
                </a:solidFill>
                <a:latin typeface="Arial"/>
              </a:rPr>
              <a:t>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7183" y="3883156"/>
            <a:ext cx="152781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Scale factor: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7183" y="4301199"/>
            <a:ext cx="217679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Self-similar pieces: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4563" y="5137816"/>
            <a:ext cx="1523110" cy="43774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850" b="1" i="0">
                <a:solidFill>
                  <a:srgbClr val="9B4632"/>
                </a:solidFill>
                <a:latin typeface="Arial"/>
              </a:rPr>
              <a:t>4 copies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80" y="6628563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8899" y="6628563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976" y="6628563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17 / 31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535" y="2636013"/>
            <a:ext cx="2622572" cy="926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3739277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Similarly: The Koch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9654" y="1384202"/>
            <a:ext cx="185117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FFFFFF"/>
                </a:solidFill>
                <a:latin typeface="Arial"/>
              </a:rPr>
              <a:t>Koch Dimension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3544" y="4142365"/>
            <a:ext cx="1458210" cy="62856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4350" b="1" i="0">
                <a:solidFill>
                  <a:srgbClr val="9B4632"/>
                </a:solidFill>
                <a:latin typeface="Arial"/>
              </a:rPr>
              <a:t>1.262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736" y="5161854"/>
            <a:ext cx="4130727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Also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non-integer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— between a line (1D)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736" y="5479469"/>
            <a:ext cx="390792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and a surface (2D), but closer to a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736" y="5797059"/>
            <a:ext cx="285649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than the Sierpinski Triangle.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80" y="6628562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8899" y="6628562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951" y="6628562"/>
            <a:ext cx="432220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17 / 31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6675343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The General Theory: Box-Counting Dimension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62" y="776540"/>
            <a:ext cx="6317390" cy="2658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191919"/>
                </a:solidFill>
                <a:latin typeface="Arial"/>
              </a:rPr>
              <a:t>The</a:t>
            </a:r>
            <a:r>
              <a:rPr sz="1450" b="1" i="0">
                <a:solidFill>
                  <a:srgbClr val="9B4632"/>
                </a:solidFill>
                <a:latin typeface="Arial"/>
              </a:rPr>
              <a:t> Self-Similarity Dimension</a:t>
            </a:r>
            <a:r>
              <a:rPr sz="1450" b="0" i="0">
                <a:solidFill>
                  <a:srgbClr val="191919"/>
                </a:solidFill>
                <a:latin typeface="Arial"/>
              </a:rPr>
              <a:t> works beautifully for self-similar fractals. But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262" y="1035697"/>
            <a:ext cx="2929816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191919"/>
                </a:solidFill>
                <a:latin typeface="Arial"/>
              </a:rPr>
              <a:t>what about more complex shapes?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863" y="1646986"/>
            <a:ext cx="2284124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Arial"/>
              </a:rPr>
              <a:t>Box-Counting 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863" y="2079218"/>
            <a:ext cx="1837746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000000"/>
                </a:solidFill>
                <a:latin typeface="Arial"/>
              </a:rPr>
              <a:t>The fractal 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2623" y="2079218"/>
            <a:ext cx="1162554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000000"/>
                </a:solidFill>
                <a:latin typeface="Arial"/>
              </a:rPr>
              <a:t>is defined as: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863" y="3016550"/>
            <a:ext cx="576417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000000"/>
                </a:solidFill>
                <a:latin typeface="Arial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8088" y="3016550"/>
            <a:ext cx="3152729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000000"/>
                </a:solidFill>
                <a:latin typeface="Arial"/>
              </a:rPr>
              <a:t>is the number of boxes of side length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6652" y="3016550"/>
            <a:ext cx="1410727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000000"/>
                </a:solidFill>
                <a:latin typeface="Arial"/>
              </a:rPr>
              <a:t>needed to 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863" y="3275708"/>
            <a:ext cx="935216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000000"/>
                </a:solidFill>
                <a:latin typeface="Arial"/>
              </a:rPr>
              <a:t>the fractal.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78" y="6628588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8897" y="6628588"/>
            <a:ext cx="51758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975" y="6628588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18 / 31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6675343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The General Theory: Box-Counting Dimension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62" y="776540"/>
            <a:ext cx="6317390" cy="2658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191919"/>
                </a:solidFill>
                <a:latin typeface="Arial"/>
              </a:rPr>
              <a:t>The</a:t>
            </a:r>
            <a:r>
              <a:rPr sz="1450" b="1" i="0">
                <a:solidFill>
                  <a:srgbClr val="9B4632"/>
                </a:solidFill>
                <a:latin typeface="Arial"/>
              </a:rPr>
              <a:t> Self-Similarity Dimension</a:t>
            </a:r>
            <a:r>
              <a:rPr sz="1450" b="0" i="0">
                <a:solidFill>
                  <a:srgbClr val="191919"/>
                </a:solidFill>
                <a:latin typeface="Arial"/>
              </a:rPr>
              <a:t> works beautifully for self-similar fractals. But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262" y="1035697"/>
            <a:ext cx="2929816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191919"/>
                </a:solidFill>
                <a:latin typeface="Arial"/>
              </a:rPr>
              <a:t>what about more complex shapes?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863" y="1646986"/>
            <a:ext cx="2284124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Arial"/>
              </a:rPr>
              <a:t>Box-Counting 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863" y="2079218"/>
            <a:ext cx="1837746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000000"/>
                </a:solidFill>
                <a:latin typeface="Arial"/>
              </a:rPr>
              <a:t>The fractal 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2623" y="2079218"/>
            <a:ext cx="1162554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000000"/>
                </a:solidFill>
                <a:latin typeface="Arial"/>
              </a:rPr>
              <a:t>is defined as: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863" y="3016550"/>
            <a:ext cx="576417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000000"/>
                </a:solidFill>
                <a:latin typeface="Arial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8088" y="3016550"/>
            <a:ext cx="3152729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000000"/>
                </a:solidFill>
                <a:latin typeface="Arial"/>
              </a:rPr>
              <a:t>is the number of boxes of side length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6652" y="3016550"/>
            <a:ext cx="1410727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000000"/>
                </a:solidFill>
                <a:latin typeface="Arial"/>
              </a:rPr>
              <a:t>needed to 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863" y="3275708"/>
            <a:ext cx="935216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000000"/>
                </a:solidFill>
                <a:latin typeface="Arial"/>
              </a:rPr>
              <a:t>the fractal.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862" y="4040398"/>
            <a:ext cx="803386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Arial"/>
              </a:rPr>
              <a:t>Intuition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9631" y="4432450"/>
            <a:ext cx="3799342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450" b="0" i="0">
                <a:solidFill>
                  <a:srgbClr val="191919"/>
                </a:solidFill>
                <a:latin typeface="Arial"/>
              </a:rPr>
              <a:t>Cover the fractal with a grid of boxes of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9631" y="4732570"/>
            <a:ext cx="2154138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450" b="0" i="0">
                <a:solidFill>
                  <a:srgbClr val="191919"/>
                </a:solidFill>
                <a:latin typeface="Arial"/>
              </a:rPr>
              <a:t>Count how many boxes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5748" y="4732570"/>
            <a:ext cx="1630321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191919"/>
                </a:solidFill>
                <a:latin typeface="Arial"/>
              </a:rPr>
              <a:t> the fractal touches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9631" y="5032690"/>
            <a:ext cx="765773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450" b="0" i="0">
                <a:solidFill>
                  <a:srgbClr val="191919"/>
                </a:solidFill>
                <a:latin typeface="Arial"/>
              </a:rPr>
              <a:t>Shrink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7815" y="5032690"/>
            <a:ext cx="1531495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191919"/>
                </a:solidFill>
                <a:latin typeface="Arial"/>
              </a:rPr>
              <a:t> and observe 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1289" y="5032690"/>
            <a:ext cx="615505" cy="26057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191919"/>
                </a:solidFill>
                <a:latin typeface="Arial"/>
              </a:rPr>
              <a:t> grows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9631" y="5332810"/>
            <a:ext cx="3659952" cy="2658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45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450" b="0" i="0">
                <a:solidFill>
                  <a:srgbClr val="191919"/>
                </a:solidFill>
                <a:latin typeface="Arial"/>
              </a:rPr>
              <a:t>The</a:t>
            </a:r>
            <a:r>
              <a:rPr sz="1450" b="1" i="0">
                <a:solidFill>
                  <a:srgbClr val="9B4632"/>
                </a:solidFill>
                <a:latin typeface="Arial"/>
              </a:rPr>
              <a:t> rate of growth</a:t>
            </a:r>
            <a:r>
              <a:rPr sz="1450" b="0" i="0">
                <a:solidFill>
                  <a:srgbClr val="191919"/>
                </a:solidFill>
                <a:latin typeface="Arial"/>
              </a:rPr>
              <a:t> tells us the dimension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895" y="6184846"/>
            <a:ext cx="5418216" cy="24009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290" b="0" i="0">
                <a:solidFill>
                  <a:srgbClr val="6B6257"/>
                </a:solidFill>
                <a:latin typeface="Arial"/>
              </a:rPr>
              <a:t>For a deeper dive, see</a:t>
            </a:r>
            <a:r>
              <a:rPr sz="1290" b="0" i="0">
                <a:solidFill>
                  <a:srgbClr val="7E8C57"/>
                </a:solidFill>
                <a:latin typeface="Arial"/>
              </a:rPr>
              <a:t> 3Blue1Brown: Fractals are typically not self-similar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78" y="6628588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8897" y="6628588"/>
            <a:ext cx="51758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6975" y="6628588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18 / 31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3119223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Handoff to Speaker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62" y="790901"/>
            <a:ext cx="565126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We’ve now uncovered a remarkable property of fractals: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792" y="1334473"/>
            <a:ext cx="7489276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They have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non-integer dimensions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— genuinely “between” the familiar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8428" y="1652063"/>
            <a:ext cx="125665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1D, 2D, 3D.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792" y="2019905"/>
            <a:ext cx="441476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The Sierpinski Triangle lives in 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1916" y="2019905"/>
            <a:ext cx="13901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792" y="2387721"/>
            <a:ext cx="375042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The Koch Curve lives in dimension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7573" y="2387721"/>
            <a:ext cx="13901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792" y="2755538"/>
            <a:ext cx="6392206" cy="30899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The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box-counting dimension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generalises this to</a:t>
            </a:r>
            <a:r>
              <a:rPr sz="1780" b="0" i="1">
                <a:solidFill>
                  <a:srgbClr val="191919"/>
                </a:solidFill>
                <a:latin typeface="Arial"/>
              </a:rPr>
              <a:t> any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shape.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78" y="6628588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8897" y="6628588"/>
            <a:ext cx="51758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949" y="6628588"/>
            <a:ext cx="432220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19 / 31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3119223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Handoff to Speaker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62" y="790901"/>
            <a:ext cx="565126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We’ve now uncovered a remarkable property of fractals: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792" y="1334473"/>
            <a:ext cx="7489276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They have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non-integer dimensions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— genuinely “between” the familiar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8428" y="1652063"/>
            <a:ext cx="125665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1D, 2D, 3D.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792" y="2019905"/>
            <a:ext cx="441476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The Sierpinski Triangle lives in 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1916" y="2019905"/>
            <a:ext cx="13901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792" y="2387721"/>
            <a:ext cx="375042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The Koch Curve lives in dimension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7573" y="2387721"/>
            <a:ext cx="13901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792" y="2755538"/>
            <a:ext cx="6392206" cy="30899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The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box-counting dimension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generalises this to</a:t>
            </a:r>
            <a:r>
              <a:rPr sz="1780" b="0" i="1">
                <a:solidFill>
                  <a:srgbClr val="191919"/>
                </a:solidFill>
                <a:latin typeface="Arial"/>
              </a:rPr>
              <a:t> any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shape.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3052" y="3847343"/>
            <a:ext cx="5917901" cy="30899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We now know </a:t>
            </a:r>
            <a:r>
              <a:rPr sz="1780" b="0" i="1">
                <a:solidFill>
                  <a:srgbClr val="191919"/>
                </a:solidFill>
                <a:latin typeface="Arial"/>
              </a:rPr>
              <a:t>what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fractals are and how to measure their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9023" y="4164958"/>
            <a:ext cx="118592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complexity.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7781" y="4583001"/>
            <a:ext cx="5910897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But </a:t>
            </a:r>
            <a:r>
              <a:rPr sz="1780" b="1" i="0">
                <a:solidFill>
                  <a:srgbClr val="9B4632"/>
                </a:solidFill>
                <a:latin typeface="Arial"/>
              </a:rPr>
              <a:t>where do we see them</a:t>
            </a:r>
            <a:r>
              <a:rPr sz="1780" b="0" i="0">
                <a:solidFill>
                  <a:srgbClr val="191919"/>
                </a:solidFill>
                <a:latin typeface="Arial"/>
              </a:rPr>
              <a:t>? And </a:t>
            </a:r>
            <a:r>
              <a:rPr sz="1780" b="1" i="0">
                <a:solidFill>
                  <a:srgbClr val="9B4632"/>
                </a:solidFill>
                <a:latin typeface="Arial"/>
              </a:rPr>
              <a:t>how are they used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7781" y="4900590"/>
            <a:ext cx="198268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computer science?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78" y="6628588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8897" y="6628588"/>
            <a:ext cx="51758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949" y="6628588"/>
            <a:ext cx="432220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19 / 31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3119223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Handoff to Speaker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262" y="790901"/>
            <a:ext cx="565126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We’ve now uncovered a remarkable property of fractals: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3792" y="1334473"/>
            <a:ext cx="7489276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They have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non-integer dimensions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— genuinely “between” the familiar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8428" y="1652063"/>
            <a:ext cx="125665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1D, 2D, 3D.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792" y="2019905"/>
            <a:ext cx="441476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The Sierpinski Triangle lives in 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1916" y="2019905"/>
            <a:ext cx="13901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792" y="2387721"/>
            <a:ext cx="375042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The Koch Curve lives in dimension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7573" y="2387721"/>
            <a:ext cx="13901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792" y="2755538"/>
            <a:ext cx="6392206" cy="30899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The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box-counting dimension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generalises this to</a:t>
            </a:r>
            <a:r>
              <a:rPr sz="1780" b="0" i="1">
                <a:solidFill>
                  <a:srgbClr val="191919"/>
                </a:solidFill>
                <a:latin typeface="Arial"/>
              </a:rPr>
              <a:t> any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shape.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3052" y="3847343"/>
            <a:ext cx="5917901" cy="30899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We now know </a:t>
            </a:r>
            <a:r>
              <a:rPr sz="1780" b="0" i="1">
                <a:solidFill>
                  <a:srgbClr val="191919"/>
                </a:solidFill>
                <a:latin typeface="Arial"/>
              </a:rPr>
              <a:t>what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fractals are and how to measure their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9023" y="4164958"/>
            <a:ext cx="118592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complexity.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7781" y="4583001"/>
            <a:ext cx="5910897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But </a:t>
            </a:r>
            <a:r>
              <a:rPr sz="1780" b="1" i="0">
                <a:solidFill>
                  <a:srgbClr val="9B4632"/>
                </a:solidFill>
                <a:latin typeface="Arial"/>
              </a:rPr>
              <a:t>where do we see them</a:t>
            </a:r>
            <a:r>
              <a:rPr sz="1780" b="0" i="0">
                <a:solidFill>
                  <a:srgbClr val="191919"/>
                </a:solidFill>
                <a:latin typeface="Arial"/>
              </a:rPr>
              <a:t>? And </a:t>
            </a:r>
            <a:r>
              <a:rPr sz="1780" b="1" i="0">
                <a:solidFill>
                  <a:srgbClr val="9B4632"/>
                </a:solidFill>
                <a:latin typeface="Arial"/>
              </a:rPr>
              <a:t>how are they used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7781" y="4900590"/>
            <a:ext cx="198268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computer science?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61" y="5840481"/>
            <a:ext cx="702400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That’s exactly where Speaker 3 takes us — fractals in nature, art, 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61" y="6158096"/>
            <a:ext cx="137099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computation.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78" y="6628588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8897" y="6628588"/>
            <a:ext cx="51758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6949" y="6628588"/>
            <a:ext cx="432220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19 / 31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72076" y="2910201"/>
            <a:ext cx="4498274" cy="43774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850" b="1" i="0">
                <a:solidFill>
                  <a:srgbClr val="191919"/>
                </a:solidFill>
                <a:latin typeface="Arial"/>
              </a:rPr>
              <a:t>Fractals in the Real World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1382" y="1356374"/>
            <a:ext cx="6919389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0" i="1">
                <a:solidFill>
                  <a:srgbClr val="7A5C4B"/>
                </a:solidFill>
                <a:latin typeface="Arial"/>
              </a:rPr>
              <a:t>We know what a fractal is, and how to measure it...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5741" y="3333320"/>
            <a:ext cx="6052519" cy="7289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5140" b="1" i="0">
                <a:solidFill>
                  <a:srgbClr val="9B4632"/>
                </a:solidFill>
                <a:latin typeface="Arial"/>
              </a:rPr>
              <a:t>Fractals in the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20634" y="3841484"/>
            <a:ext cx="1902715" cy="72899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5140" b="1" i="0">
                <a:solidFill>
                  <a:srgbClr val="9B4632"/>
                </a:solidFill>
                <a:latin typeface="Arial"/>
              </a:rPr>
              <a:t>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4044" y="4993636"/>
            <a:ext cx="4175921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6B6257"/>
                </a:solidFill>
                <a:latin typeface="Arial"/>
              </a:rPr>
              <a:t>Where does all of this actually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show up</a:t>
            </a:r>
            <a:r>
              <a:rPr sz="1780" b="0" i="0">
                <a:solidFill>
                  <a:srgbClr val="6B6257"/>
                </a:solidFill>
                <a:latin typeface="Arial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878" y="6628588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897" y="6628588"/>
            <a:ext cx="51758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975" y="6628588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20 / 31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235" y="857401"/>
            <a:ext cx="2198840" cy="21823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8610" y="-49546323"/>
            <a:ext cx="2198840" cy="21823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3963" y="-47162931"/>
            <a:ext cx="2198735" cy="218552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68610" y="-47163058"/>
            <a:ext cx="2198840" cy="21856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3068" y="127907"/>
            <a:ext cx="5463254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Nature draws with one rule, repeated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80" y="6628592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8899" y="6628592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6951" y="6628592"/>
            <a:ext cx="432220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21 / 31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235" y="857401"/>
            <a:ext cx="2198840" cy="21823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881" y="857402"/>
            <a:ext cx="2198840" cy="21823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3963" y="-47162931"/>
            <a:ext cx="2198735" cy="218552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68610" y="-47163058"/>
            <a:ext cx="2198840" cy="21856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3068" y="127907"/>
            <a:ext cx="5463254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Nature draws with one rule, repeated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80" y="6628592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8899" y="6628592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6951" y="6628592"/>
            <a:ext cx="432220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21 / 31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235" y="857401"/>
            <a:ext cx="2198840" cy="21823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881" y="857402"/>
            <a:ext cx="2198840" cy="21823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0237" y="3240793"/>
            <a:ext cx="2198733" cy="218552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68610" y="-47163061"/>
            <a:ext cx="2198840" cy="21856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3068" y="127907"/>
            <a:ext cx="5463254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Nature draws with one rule, repeated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80" y="6628589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8899" y="6628589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6951" y="6628589"/>
            <a:ext cx="432220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21 / 31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235" y="857401"/>
            <a:ext cx="2198840" cy="21823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881" y="857402"/>
            <a:ext cx="2198840" cy="21823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0237" y="3240793"/>
            <a:ext cx="2198733" cy="218552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881" y="3240665"/>
            <a:ext cx="2198840" cy="21856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3068" y="127907"/>
            <a:ext cx="5463254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Nature draws with one rule, repeated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80" y="6628589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8899" y="6628589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6951" y="6628589"/>
            <a:ext cx="432220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21 / 31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235" y="857401"/>
            <a:ext cx="2198840" cy="21823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881" y="857402"/>
            <a:ext cx="2198840" cy="21823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0237" y="3240793"/>
            <a:ext cx="2198733" cy="218552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881" y="3240665"/>
            <a:ext cx="2198840" cy="21856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3068" y="127907"/>
            <a:ext cx="5463254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Nature draws with one rule, repeated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451" y="5947289"/>
            <a:ext cx="6442597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Broccoli, ice, leaves, cones — the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same shape at every zoom</a:t>
            </a:r>
            <a:r>
              <a:rPr sz="1780" b="0" i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80" y="6628589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899" y="6628589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951" y="6628589"/>
            <a:ext cx="432220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21 / 31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62" y="1341547"/>
            <a:ext cx="2391641" cy="188341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79880" y="-49062177"/>
            <a:ext cx="2391641" cy="18834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41644" y="-49062177"/>
            <a:ext cx="2391641" cy="18834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068" y="127907"/>
            <a:ext cx="5338220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A tree built from nothing but squares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0370" y="5711256"/>
            <a:ext cx="4320397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Pythagorean tree, after A. E. Bosman (1942), drawn 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8592" y="5711256"/>
            <a:ext cx="125058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92" y="6628594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911" y="6628594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988" y="6628594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22 / 31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62" y="1341547"/>
            <a:ext cx="2391641" cy="188341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152" y="1341548"/>
            <a:ext cx="2391641" cy="188341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41638" y="-49062177"/>
            <a:ext cx="2391641" cy="18834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068" y="127907"/>
            <a:ext cx="5338220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A tree built from nothing but squares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0363" y="5711256"/>
            <a:ext cx="4320397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Pythagorean tree, after A. E. Bosman (1942), drawn 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8586" y="5711256"/>
            <a:ext cx="125058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86" y="6628594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905" y="6628594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982" y="6628594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22 / 31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62" y="1341547"/>
            <a:ext cx="2391641" cy="188341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152" y="1341548"/>
            <a:ext cx="2391641" cy="188341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7911" y="1341548"/>
            <a:ext cx="2391641" cy="1883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068" y="127907"/>
            <a:ext cx="5338220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A tree built from nothing but squares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0357" y="5711256"/>
            <a:ext cx="4320397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Pythagorean tree, after A. E. Bosman (1942), drawn 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8579" y="5711256"/>
            <a:ext cx="125058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80" y="6628594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899" y="6628594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976" y="6628594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22 / 31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62" y="1341547"/>
            <a:ext cx="2391641" cy="188341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152" y="1341548"/>
            <a:ext cx="2391641" cy="188341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7911" y="1341548"/>
            <a:ext cx="2391641" cy="1883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068" y="127907"/>
            <a:ext cx="5338220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A tree built from nothing but squares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931" y="3620986"/>
            <a:ext cx="7730158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Stand a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right triangle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on each square’s top edge and grow a new square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5481" y="3967457"/>
            <a:ext cx="152058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each leg — 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5927" y="3967457"/>
            <a:ext cx="247258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sits at every single joint.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0357" y="5711256"/>
            <a:ext cx="4320397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Pythagorean tree, after A. E. Bosman (1942), drawn 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8579" y="5711256"/>
            <a:ext cx="125058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80" y="6628594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8899" y="6628594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976" y="6628594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22 / 31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62" y="1341547"/>
            <a:ext cx="2391641" cy="188341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152" y="1341548"/>
            <a:ext cx="2391641" cy="188341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7911" y="1341548"/>
            <a:ext cx="2391641" cy="1883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068" y="127907"/>
            <a:ext cx="5338220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A tree built from nothing but squares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931" y="3620986"/>
            <a:ext cx="7730158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Stand a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right triangle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on each square’s top edge and grow a new square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5481" y="3967457"/>
            <a:ext cx="152058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each leg — 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5927" y="3967457"/>
            <a:ext cx="247258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sits at every single joint.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451" y="4721589"/>
            <a:ext cx="7307148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Nobody designed a single branch. </a:t>
            </a:r>
            <a:r>
              <a:rPr sz="1780" b="1" i="0">
                <a:solidFill>
                  <a:srgbClr val="9B4632"/>
                </a:solidFill>
                <a:latin typeface="Arial"/>
              </a:rPr>
              <a:t>One rule</a:t>
            </a:r>
            <a:r>
              <a:rPr sz="1780" b="0" i="0">
                <a:solidFill>
                  <a:srgbClr val="000000"/>
                </a:solidFill>
                <a:latin typeface="Arial"/>
              </a:rPr>
              <a:t>, repeated twelve times, 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451" y="5039179"/>
            <a:ext cx="159492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a tree appears.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0357" y="5711256"/>
            <a:ext cx="4320397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Pythagorean tree, after A. E. Bosman (1942), drawn 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8579" y="5711256"/>
            <a:ext cx="125058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0" y="6628594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899" y="6628594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976" y="6628594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22 / 31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44" y="1722267"/>
            <a:ext cx="4397742" cy="36331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5217704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Tilt the rule and it starts to look alive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880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8899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6951" y="6628585"/>
            <a:ext cx="432220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23 / 31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44" y="1722267"/>
            <a:ext cx="4397742" cy="36331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5217704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Tilt the rule and it starts to look alive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2489" y="1439815"/>
            <a:ext cx="49107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3937" y="1439815"/>
            <a:ext cx="179242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the two branches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17100" y="1757430"/>
            <a:ext cx="2179501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match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exactly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— too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7100" y="2075045"/>
            <a:ext cx="176959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perfect to be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80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899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951" y="6628585"/>
            <a:ext cx="432220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23 / 31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44" y="1722267"/>
            <a:ext cx="4397742" cy="36331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5217704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Tilt the rule and it starts to look alive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2489" y="1439815"/>
            <a:ext cx="49107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3937" y="1439815"/>
            <a:ext cx="179242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the two branches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17100" y="1757430"/>
            <a:ext cx="2179501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match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exactly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— too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7100" y="2075045"/>
            <a:ext cx="176959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perfect to be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2489" y="2493087"/>
            <a:ext cx="207352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Tilt that triangle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6367" y="2493087"/>
            <a:ext cx="45311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7099" y="2810676"/>
            <a:ext cx="196370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they stop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80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8899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951" y="6628585"/>
            <a:ext cx="432220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23 / 31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44" y="1722267"/>
            <a:ext cx="4397742" cy="36331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5217704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Tilt the rule and it starts to look alive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2489" y="1439815"/>
            <a:ext cx="49107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3937" y="1439815"/>
            <a:ext cx="179242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the two branches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17100" y="1757430"/>
            <a:ext cx="2179501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match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exactly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— too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7100" y="2075045"/>
            <a:ext cx="176959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perfect to be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2489" y="2493087"/>
            <a:ext cx="207352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Tilt that triangle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6367" y="2493087"/>
            <a:ext cx="45311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7099" y="2810676"/>
            <a:ext cx="196370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they stop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2489" y="3228721"/>
            <a:ext cx="2843391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The tree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leans</a:t>
            </a:r>
            <a:r>
              <a:rPr sz="1780" b="0" i="0">
                <a:solidFill>
                  <a:srgbClr val="191919"/>
                </a:solidFill>
                <a:latin typeface="Arial"/>
              </a:rPr>
              <a:t>, the way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7100" y="3546336"/>
            <a:ext cx="266013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real one grows toward the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7100" y="3863926"/>
            <a:ext cx="49062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80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8899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951" y="6628585"/>
            <a:ext cx="432220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23 / 31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44" y="1722267"/>
            <a:ext cx="4397742" cy="36331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5217704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Tilt the rule and it starts to look alive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2489" y="1439815"/>
            <a:ext cx="49107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3937" y="1439815"/>
            <a:ext cx="179242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the two branches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17100" y="1757430"/>
            <a:ext cx="2179501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match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exactly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— too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7100" y="2075045"/>
            <a:ext cx="176959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perfect to be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2489" y="2493087"/>
            <a:ext cx="207352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Tilt that triangle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6367" y="2493087"/>
            <a:ext cx="45311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7099" y="2810676"/>
            <a:ext cx="196370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they stop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2489" y="3228721"/>
            <a:ext cx="2843391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The tree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leans</a:t>
            </a:r>
            <a:r>
              <a:rPr sz="1780" b="0" i="0">
                <a:solidFill>
                  <a:srgbClr val="191919"/>
                </a:solidFill>
                <a:latin typeface="Arial"/>
              </a:rPr>
              <a:t>, the way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7100" y="3546336"/>
            <a:ext cx="266013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real one grows toward the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7100" y="3863926"/>
            <a:ext cx="49062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7121" y="4766820"/>
            <a:ext cx="2755267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One number changed </a:t>
            </a:r>
            <a:r>
              <a:rPr sz="1780" b="0" i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7121" y="5084435"/>
            <a:ext cx="275526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and a diagram turns into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7121" y="5402025"/>
            <a:ext cx="62891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plant.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80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8899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6951" y="6628585"/>
            <a:ext cx="432220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23 / 31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62" y="1052069"/>
            <a:ext cx="2319529" cy="19286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4366" y="-49351669"/>
            <a:ext cx="2410881" cy="192870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61974" y="-49351466"/>
            <a:ext cx="1971294" cy="19285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068" y="127907"/>
            <a:ext cx="7552697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Branching packs a huge surface into a small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9344" y="3359796"/>
            <a:ext cx="2989088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airways and blood vessels of the 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6842" y="3359796"/>
            <a:ext cx="1621397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vessels in the retina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6648" y="3359796"/>
            <a:ext cx="2337936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the same vessels, zoomed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6025" y="6000840"/>
            <a:ext cx="3111936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Lung branching figures: Weibel (1963).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80" y="6628586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8899" y="6628586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6976" y="6628586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24 / 31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62" y="1052069"/>
            <a:ext cx="2319529" cy="19286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642" y="1052057"/>
            <a:ext cx="2410880" cy="192870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61974" y="-49351466"/>
            <a:ext cx="1971294" cy="19285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068" y="127907"/>
            <a:ext cx="7552697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Branching packs a huge surface into a small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9344" y="3359796"/>
            <a:ext cx="2989088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airways and blood vessels of the 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6842" y="3359796"/>
            <a:ext cx="1621397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vessels in the retina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6648" y="3359796"/>
            <a:ext cx="2337936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the same vessels, zoomed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6025" y="6000840"/>
            <a:ext cx="3111936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Lung branching figures: Weibel (1963).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80" y="6628586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8899" y="6628586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6976" y="6628586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24 / 31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62" y="1052069"/>
            <a:ext cx="2319529" cy="19286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642" y="1052057"/>
            <a:ext cx="2410880" cy="192870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8249" y="1052259"/>
            <a:ext cx="1971294" cy="19285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068" y="127907"/>
            <a:ext cx="7552697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Branching packs a huge surface into a small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9350" y="3359796"/>
            <a:ext cx="2989088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airways and blood vessels of the 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6848" y="3359796"/>
            <a:ext cx="1621397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vessels in the retina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6655" y="3359796"/>
            <a:ext cx="2337936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the same vessels, zoomed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6032" y="6000840"/>
            <a:ext cx="3111936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Lung branching figures: Weibel (1963).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86" y="6628586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8905" y="6628586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6982" y="6628586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24 / 31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62" y="1052069"/>
            <a:ext cx="2319529" cy="19286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642" y="1052057"/>
            <a:ext cx="2410880" cy="192870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8249" y="1052259"/>
            <a:ext cx="1971294" cy="19285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068" y="127907"/>
            <a:ext cx="7552697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Branching packs a huge surface into a small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9350" y="3359796"/>
            <a:ext cx="2989088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airways and blood vessels of the 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6848" y="3359796"/>
            <a:ext cx="1621397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vessels in the retina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6655" y="3359796"/>
            <a:ext cx="2337936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the same vessels, zoomed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796" y="3945224"/>
            <a:ext cx="2574493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Lungs: about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23 splits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0569" y="3951633"/>
            <a:ext cx="59117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70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914" y="3945224"/>
            <a:ext cx="251280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of surface packed inside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2884" y="3945224"/>
            <a:ext cx="73941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5 litres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6032" y="6000837"/>
            <a:ext cx="3111936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Lung branching figures: Weibel (1963).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86" y="6628583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8905" y="6628583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982" y="6628583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24 / 31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62" y="1052069"/>
            <a:ext cx="2319529" cy="19286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642" y="1052057"/>
            <a:ext cx="2410880" cy="192870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8249" y="1052259"/>
            <a:ext cx="1971294" cy="19285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068" y="127907"/>
            <a:ext cx="7552697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Branching packs a huge surface into a small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9350" y="3359796"/>
            <a:ext cx="2989088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airways and blood vessels of the 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6848" y="3359796"/>
            <a:ext cx="1621397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vessels in the retina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6655" y="3359796"/>
            <a:ext cx="2337936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the same vessels, zoomed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796" y="3945224"/>
            <a:ext cx="2574493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Lungs: about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23 splits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0569" y="3951633"/>
            <a:ext cx="59117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70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914" y="3945224"/>
            <a:ext cx="251280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of surface packed inside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2884" y="3945224"/>
            <a:ext cx="73941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5 litres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796" y="4338166"/>
            <a:ext cx="7045478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Doctors track the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dimension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of retinal vessels to spot disease 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6025" y="6000837"/>
            <a:ext cx="3111936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Lung branching figures: Weibel (1963).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80" y="6628583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8899" y="6628583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976" y="6628583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24 / 31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62" y="1052069"/>
            <a:ext cx="2319529" cy="19286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642" y="1052057"/>
            <a:ext cx="2410880" cy="192870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8249" y="1052259"/>
            <a:ext cx="1971294" cy="19285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068" y="127907"/>
            <a:ext cx="7552697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Branching packs a huge surface into a small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9350" y="3359796"/>
            <a:ext cx="2989088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airways and blood vessels of the 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6848" y="3359796"/>
            <a:ext cx="1621397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vessels in the retina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6655" y="3359796"/>
            <a:ext cx="2337936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the same vessels, zoomed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796" y="3945224"/>
            <a:ext cx="2574493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Lungs: about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23 splits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0569" y="3951633"/>
            <a:ext cx="59117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70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914" y="3945224"/>
            <a:ext cx="251280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of surface packed inside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2884" y="3945224"/>
            <a:ext cx="73941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5 litres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796" y="4338166"/>
            <a:ext cx="7045478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Doctors track the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dimension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of retinal vessels to spot disease 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451" y="5060440"/>
            <a:ext cx="7307147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Branching again and again is nature’s cheapest way to get </a:t>
            </a:r>
            <a:r>
              <a:rPr sz="1780" b="1" i="0">
                <a:solidFill>
                  <a:srgbClr val="9B4632"/>
                </a:solidFill>
                <a:latin typeface="Arial"/>
              </a:rPr>
              <a:t>area out 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451" y="5378055"/>
            <a:ext cx="925610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volume</a:t>
            </a:r>
            <a:r>
              <a:rPr sz="1780" b="0" i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6025" y="6000837"/>
            <a:ext cx="3111936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Lung branching figures: Weibel (1963).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80" y="6628583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8899" y="6628583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6976" y="6628583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24 / 31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45" y="1290570"/>
            <a:ext cx="2623154" cy="38881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7302025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Fractal compression: a whole plant in 28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258" y="5280101"/>
            <a:ext cx="7457368" cy="2572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Barnsley fern: an iterated function system (Barnsley,</a:t>
            </a:r>
            <a:r>
              <a:rPr sz="1380" b="0" i="1">
                <a:solidFill>
                  <a:srgbClr val="6B6257"/>
                </a:solidFill>
                <a:latin typeface="Arial"/>
              </a:rPr>
              <a:t> Fractals Everywhere</a:t>
            </a:r>
            <a:r>
              <a:rPr sz="1380" b="0" i="0">
                <a:solidFill>
                  <a:srgbClr val="6B6257"/>
                </a:solidFill>
                <a:latin typeface="Arial"/>
              </a:rPr>
              <a:t>, 1988), plotted by 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258" y="5626597"/>
            <a:ext cx="1081492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chaos game.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874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893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970" y="6628585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26 / 31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45" y="1290570"/>
            <a:ext cx="2623154" cy="38881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7302025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Fractal compression: a whole plant in 28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00871" y="1488982"/>
            <a:ext cx="3912443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Four rules, each a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shrink-and-tilt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5482" y="1806596"/>
            <a:ext cx="371404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the whole picture, applied at random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58" y="5280101"/>
            <a:ext cx="7457368" cy="2572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Barnsley fern: an iterated function system (Barnsley,</a:t>
            </a:r>
            <a:r>
              <a:rPr sz="1380" b="0" i="1">
                <a:solidFill>
                  <a:srgbClr val="6B6257"/>
                </a:solidFill>
                <a:latin typeface="Arial"/>
              </a:rPr>
              <a:t> Fractals Everywhere</a:t>
            </a:r>
            <a:r>
              <a:rPr sz="1380" b="0" i="0">
                <a:solidFill>
                  <a:srgbClr val="6B6257"/>
                </a:solidFill>
                <a:latin typeface="Arial"/>
              </a:rPr>
              <a:t>, 1988), plotted by the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58" y="5626597"/>
            <a:ext cx="1081492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chaos game.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74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893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970" y="6628585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26 / 31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45" y="1290570"/>
            <a:ext cx="2623154" cy="38881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7302025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Fractal compression: a whole plant in 28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00871" y="1488982"/>
            <a:ext cx="3912443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Four rules, each a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shrink-and-tilt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5482" y="1806596"/>
            <a:ext cx="371404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the whole picture, applied at random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0871" y="2224615"/>
            <a:ext cx="15528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1480" y="2224615"/>
            <a:ext cx="126478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 coefficients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434" y="2224615"/>
            <a:ext cx="153187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 4 probabilities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2480" y="2231024"/>
            <a:ext cx="39029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 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5482" y="2548639"/>
            <a:ext cx="103158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58" y="5280101"/>
            <a:ext cx="7457368" cy="2572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Barnsley fern: an iterated function system (Barnsley,</a:t>
            </a:r>
            <a:r>
              <a:rPr sz="1380" b="0" i="1">
                <a:solidFill>
                  <a:srgbClr val="6B6257"/>
                </a:solidFill>
                <a:latin typeface="Arial"/>
              </a:rPr>
              <a:t> Fractals Everywhere</a:t>
            </a:r>
            <a:r>
              <a:rPr sz="1380" b="0" i="0">
                <a:solidFill>
                  <a:srgbClr val="6B6257"/>
                </a:solidFill>
                <a:latin typeface="Arial"/>
              </a:rPr>
              <a:t>, 1988), plotted by the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58" y="5626597"/>
            <a:ext cx="1081492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chaos game.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74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893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970" y="6628585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26 / 31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45" y="1290570"/>
            <a:ext cx="2623154" cy="38881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7302025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Fractal compression: a whole plant in 28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00871" y="1488982"/>
            <a:ext cx="3912443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Four rules, each a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shrink-and-tilt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5482" y="1806596"/>
            <a:ext cx="371404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the whole picture, applied at random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0871" y="2224615"/>
            <a:ext cx="15528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1480" y="2224615"/>
            <a:ext cx="126478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 coefficients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434" y="2224615"/>
            <a:ext cx="153187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 4 probabilities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2480" y="2231024"/>
            <a:ext cx="39029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 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5482" y="2548639"/>
            <a:ext cx="103158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0871" y="2960272"/>
            <a:ext cx="398836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Those 28 numbers redraw the fern 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5482" y="3277862"/>
            <a:ext cx="3623203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any resolution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— zoom in, there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5482" y="3595477"/>
            <a:ext cx="175784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always more leaf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58" y="5280101"/>
            <a:ext cx="7457368" cy="2572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Barnsley fern: an iterated function system (Barnsley,</a:t>
            </a:r>
            <a:r>
              <a:rPr sz="1380" b="0" i="1">
                <a:solidFill>
                  <a:srgbClr val="6B6257"/>
                </a:solidFill>
                <a:latin typeface="Arial"/>
              </a:rPr>
              <a:t> Fractals Everywhere</a:t>
            </a:r>
            <a:r>
              <a:rPr sz="1380" b="0" i="0">
                <a:solidFill>
                  <a:srgbClr val="6B6257"/>
                </a:solidFill>
                <a:latin typeface="Arial"/>
              </a:rPr>
              <a:t>, 1988), plotted by the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58" y="5626597"/>
            <a:ext cx="1081492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chaos game.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74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8893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6970" y="6628585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26 / 31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45" y="1290570"/>
            <a:ext cx="2623154" cy="38881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7302025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Fractal compression: a whole plant in 28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00871" y="1488982"/>
            <a:ext cx="3912443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Four rules, each a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shrink-and-tilt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5482" y="1806596"/>
            <a:ext cx="371404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the whole picture, applied at random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0871" y="2224615"/>
            <a:ext cx="15528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1480" y="2224615"/>
            <a:ext cx="126478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 coefficients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434" y="2224615"/>
            <a:ext cx="153187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 4 probabilities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2480" y="2231024"/>
            <a:ext cx="39029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 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5482" y="2548639"/>
            <a:ext cx="1031588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0871" y="2960272"/>
            <a:ext cx="398836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780" b="0" i="0">
                <a:solidFill>
                  <a:srgbClr val="191919"/>
                </a:solidFill>
                <a:latin typeface="Arial"/>
              </a:rPr>
              <a:t>Those 28 numbers redraw the fern 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5482" y="3277862"/>
            <a:ext cx="3623203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9B4632"/>
                </a:solidFill>
                <a:latin typeface="Arial"/>
              </a:rPr>
              <a:t>any resolution</a:t>
            </a:r>
            <a:r>
              <a:rPr sz="1780" b="0" i="0">
                <a:solidFill>
                  <a:srgbClr val="191919"/>
                </a:solidFill>
                <a:latin typeface="Arial"/>
              </a:rPr>
              <a:t> — zoom in, there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5482" y="3595477"/>
            <a:ext cx="175784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always more leaf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5502" y="4426926"/>
            <a:ext cx="4066779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Store the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rule</a:t>
            </a:r>
            <a:r>
              <a:rPr sz="1780" b="0" i="0">
                <a:solidFill>
                  <a:srgbClr val="000000"/>
                </a:solidFill>
                <a:latin typeface="Arial"/>
              </a:rPr>
              <a:t>, not the pixels — the idea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5502" y="4744541"/>
            <a:ext cx="3750199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behind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fractal image compression</a:t>
            </a:r>
            <a:r>
              <a:rPr sz="1780" b="0" i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58" y="5280101"/>
            <a:ext cx="7457368" cy="2572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Barnsley fern: an iterated function system (Barnsley,</a:t>
            </a:r>
            <a:r>
              <a:rPr sz="1380" b="0" i="1">
                <a:solidFill>
                  <a:srgbClr val="6B6257"/>
                </a:solidFill>
                <a:latin typeface="Arial"/>
              </a:rPr>
              <a:t> Fractals Everywhere</a:t>
            </a:r>
            <a:r>
              <a:rPr sz="1380" b="0" i="0">
                <a:solidFill>
                  <a:srgbClr val="6B6257"/>
                </a:solidFill>
                <a:latin typeface="Arial"/>
              </a:rPr>
              <a:t>, 1988), plotted by 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58" y="5626597"/>
            <a:ext cx="1081492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chaos game.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74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8893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6970" y="6628585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26 / 31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62" y="1074795"/>
            <a:ext cx="2468868" cy="2751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1271" y="-49328932"/>
            <a:ext cx="2468870" cy="2751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64428" y="-49328932"/>
            <a:ext cx="2468870" cy="2751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068" y="127907"/>
            <a:ext cx="6826590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Game worlds are grown from a rule, not stored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3" y="5632621"/>
            <a:ext cx="7791470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Terrain generated here by summing 7 layers of noise, each half the size of the last (fractal Brownian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17366" y="5979092"/>
            <a:ext cx="709253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motion).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89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908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985" y="6628585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27 / 31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62" y="1074795"/>
            <a:ext cx="2468868" cy="2751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42" y="1074794"/>
            <a:ext cx="2468868" cy="2751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64422" y="-49328932"/>
            <a:ext cx="2468870" cy="2751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068" y="127907"/>
            <a:ext cx="6826590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Game worlds are grown from a rule, not stored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67" y="5632621"/>
            <a:ext cx="7791470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Terrain generated here by summing 7 layers of noise, each half the size of the last (fractal Brownian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17360" y="5979092"/>
            <a:ext cx="709253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motion).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83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902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979" y="6628585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27 / 31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62" y="1074795"/>
            <a:ext cx="2468868" cy="2751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42" y="1074794"/>
            <a:ext cx="2468868" cy="2751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0692" y="1074794"/>
            <a:ext cx="2468868" cy="2751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068" y="127907"/>
            <a:ext cx="6826590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Game worlds are grown from a rule, not stored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61" y="5632621"/>
            <a:ext cx="7791470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Terrain generated here by summing 7 layers of noise, each half the size of the last (fractal Brownian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17354" y="5979092"/>
            <a:ext cx="709253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motion).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77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896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973" y="6628585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27 / 31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62" y="1074795"/>
            <a:ext cx="2468868" cy="2751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42" y="1074794"/>
            <a:ext cx="2468868" cy="2751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0692" y="1074794"/>
            <a:ext cx="2468868" cy="2751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068" y="127907"/>
            <a:ext cx="6826590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Game worlds are grown from a rule, not stored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448" y="4325364"/>
            <a:ext cx="7307149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Add </a:t>
            </a:r>
            <a:r>
              <a:rPr sz="1780" b="1" i="0">
                <a:solidFill>
                  <a:srgbClr val="9B4632"/>
                </a:solidFill>
                <a:latin typeface="Arial"/>
              </a:rPr>
              <a:t>smaller bumps at every scale </a:t>
            </a:r>
            <a:r>
              <a:rPr sz="1780" b="0" i="0">
                <a:solidFill>
                  <a:srgbClr val="000000"/>
                </a:solidFill>
                <a:latin typeface="Arial"/>
              </a:rPr>
              <a:t>— the Koch idea — and a handful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448" y="4642954"/>
            <a:ext cx="730714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of numbers becomes an endless mountain range. Store the rule, not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448" y="4960569"/>
            <a:ext cx="57852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map.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61" y="5632621"/>
            <a:ext cx="7791470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Terrain generated here by summing 7 layers of noise, each half the size of the last (fractal Brownian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7354" y="5979092"/>
            <a:ext cx="709253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motion).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77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8896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973" y="6628585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27 / 31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88" y="728068"/>
            <a:ext cx="7483907" cy="42491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6106507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Keep stacking layers and you get a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911" y="6430682"/>
            <a:ext cx="3814411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15 layers of value noise, each half the width 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65040" y="6430682"/>
            <a:ext cx="2318250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 the height of the one before.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877" y="6628591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896" y="6628591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973" y="6628591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28 / 31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88" y="728068"/>
            <a:ext cx="7483907" cy="42491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068" y="127907"/>
            <a:ext cx="6106507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Keep stacking layers and you get a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448" y="5441015"/>
            <a:ext cx="7307148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Same rule,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15 layers</a:t>
            </a:r>
            <a:r>
              <a:rPr sz="1780" b="0" i="0">
                <a:solidFill>
                  <a:srgbClr val="000000"/>
                </a:solidFill>
                <a:latin typeface="Arial"/>
              </a:rPr>
              <a:t> instead of 7 — ridges, valleys, snow lines and lakes.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448" y="5758630"/>
            <a:ext cx="374161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Not one of them was drawn by hand.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911" y="6430682"/>
            <a:ext cx="3814411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15 layers of value noise, each half the width 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65040" y="6430682"/>
            <a:ext cx="2318250" cy="2519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380" b="0" i="0">
                <a:solidFill>
                  <a:srgbClr val="6B6257"/>
                </a:solidFill>
                <a:latin typeface="Arial"/>
              </a:rPr>
              <a:t> the height of the one before.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77" y="6628591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896" y="6628591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973" y="6628591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28 / 31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5292423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One honest catch: real fractals stop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7429" y="1884948"/>
            <a:ext cx="7474363" cy="3860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2370" b="0" i="0">
                <a:solidFill>
                  <a:srgbClr val="191919"/>
                </a:solidFill>
                <a:latin typeface="Arial"/>
              </a:rPr>
              <a:t>A fern looks like a fern ... until you reach a single</a:t>
            </a:r>
            <a:r>
              <a:rPr sz="2370" b="1" i="0">
                <a:solidFill>
                  <a:srgbClr val="9B4632"/>
                </a:solidFill>
                <a:latin typeface="Arial"/>
              </a:rPr>
              <a:t>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877" y="6628590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8896" y="6628590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6973" y="6628590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29 / 31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5292423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One honest catch: real fractals stop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7429" y="1884948"/>
            <a:ext cx="7474363" cy="3860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2370" b="0" i="0">
                <a:solidFill>
                  <a:srgbClr val="191919"/>
                </a:solidFill>
                <a:latin typeface="Arial"/>
              </a:rPr>
              <a:t>A fern looks like a fern ... until you reach a single</a:t>
            </a:r>
            <a:r>
              <a:rPr sz="2370" b="1" i="0">
                <a:solidFill>
                  <a:srgbClr val="9B4632"/>
                </a:solidFill>
                <a:latin typeface="Arial"/>
              </a:rPr>
              <a:t>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7429" y="2424764"/>
            <a:ext cx="5997142" cy="3860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2370" b="0" i="0">
                <a:solidFill>
                  <a:srgbClr val="191919"/>
                </a:solidFill>
                <a:latin typeface="Arial"/>
              </a:rPr>
              <a:t>Lungs stop branching after about</a:t>
            </a:r>
            <a:r>
              <a:rPr sz="2370" b="1" i="0">
                <a:solidFill>
                  <a:srgbClr val="9B4632"/>
                </a:solidFill>
                <a:latin typeface="Arial"/>
              </a:rPr>
              <a:t> 23 splits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877" y="6628584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8896" y="6628584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6973" y="6628584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29 / 31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5292423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One honest catch: real fractals stop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7429" y="1884948"/>
            <a:ext cx="7474363" cy="3860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2370" b="0" i="0">
                <a:solidFill>
                  <a:srgbClr val="191919"/>
                </a:solidFill>
                <a:latin typeface="Arial"/>
              </a:rPr>
              <a:t>A fern looks like a fern ... until you reach a single</a:t>
            </a:r>
            <a:r>
              <a:rPr sz="2370" b="1" i="0">
                <a:solidFill>
                  <a:srgbClr val="9B4632"/>
                </a:solidFill>
                <a:latin typeface="Arial"/>
              </a:rPr>
              <a:t>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7429" y="2424764"/>
            <a:ext cx="5997142" cy="3860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2370" b="0" i="0">
                <a:solidFill>
                  <a:srgbClr val="191919"/>
                </a:solidFill>
                <a:latin typeface="Arial"/>
              </a:rPr>
              <a:t>Lungs stop branching after about</a:t>
            </a:r>
            <a:r>
              <a:rPr sz="2370" b="1" i="0">
                <a:solidFill>
                  <a:srgbClr val="9B4632"/>
                </a:solidFill>
                <a:latin typeface="Arial"/>
              </a:rPr>
              <a:t> 23 splits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429" y="2964554"/>
            <a:ext cx="4353909" cy="3860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2370" b="0" i="0">
                <a:solidFill>
                  <a:srgbClr val="191919"/>
                </a:solidFill>
                <a:latin typeface="Arial"/>
              </a:rPr>
              <a:t>A tree runs out at the last</a:t>
            </a:r>
            <a:r>
              <a:rPr sz="2370" b="1" i="0">
                <a:solidFill>
                  <a:srgbClr val="9B4632"/>
                </a:solidFill>
                <a:latin typeface="Arial"/>
              </a:rPr>
              <a:t> twig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877" y="6628584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896" y="6628584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973" y="6628584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29 / 31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5292423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One honest catch: real fractals stop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7429" y="1884948"/>
            <a:ext cx="7474363" cy="3860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2370" b="0" i="0">
                <a:solidFill>
                  <a:srgbClr val="191919"/>
                </a:solidFill>
                <a:latin typeface="Arial"/>
              </a:rPr>
              <a:t>A fern looks like a fern ... until you reach a single</a:t>
            </a:r>
            <a:r>
              <a:rPr sz="2370" b="1" i="0">
                <a:solidFill>
                  <a:srgbClr val="9B4632"/>
                </a:solidFill>
                <a:latin typeface="Arial"/>
              </a:rPr>
              <a:t>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7429" y="2424764"/>
            <a:ext cx="5997142" cy="3860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2370" b="0" i="0">
                <a:solidFill>
                  <a:srgbClr val="191919"/>
                </a:solidFill>
                <a:latin typeface="Arial"/>
              </a:rPr>
              <a:t>Lungs stop branching after about</a:t>
            </a:r>
            <a:r>
              <a:rPr sz="2370" b="1" i="0">
                <a:solidFill>
                  <a:srgbClr val="9B4632"/>
                </a:solidFill>
                <a:latin typeface="Arial"/>
              </a:rPr>
              <a:t> 23 splits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429" y="2964554"/>
            <a:ext cx="4353909" cy="3860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2370" b="0" i="0">
                <a:solidFill>
                  <a:srgbClr val="191919"/>
                </a:solidFill>
                <a:latin typeface="Arial"/>
              </a:rPr>
              <a:t>A tree runs out at the last</a:t>
            </a:r>
            <a:r>
              <a:rPr sz="2370" b="1" i="0">
                <a:solidFill>
                  <a:srgbClr val="9B4632"/>
                </a:solidFill>
                <a:latin typeface="Arial"/>
              </a:rPr>
              <a:t> twig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7429" y="3504370"/>
            <a:ext cx="7463517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2370" b="0" i="0">
                <a:solidFill>
                  <a:srgbClr val="191919"/>
                </a:solidFill>
                <a:latin typeface="Arial"/>
              </a:rPr>
              <a:t>Only the mathematical ones — Sierpinski, Koch — 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8427" y="3908577"/>
            <a:ext cx="1504312" cy="3860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0" i="0">
                <a:solidFill>
                  <a:srgbClr val="191919"/>
                </a:solidFill>
                <a:latin typeface="Arial"/>
              </a:rPr>
              <a:t>on</a:t>
            </a:r>
            <a:r>
              <a:rPr sz="2370" b="1" i="0">
                <a:solidFill>
                  <a:srgbClr val="9B4632"/>
                </a:solidFill>
                <a:latin typeface="Arial"/>
              </a:rPr>
              <a:t> forever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77" y="6628584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896" y="6628584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973" y="6628584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29 / 31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5292423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One honest catch: real fractals stop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7429" y="1884948"/>
            <a:ext cx="7474363" cy="3860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2370" b="0" i="0">
                <a:solidFill>
                  <a:srgbClr val="191919"/>
                </a:solidFill>
                <a:latin typeface="Arial"/>
              </a:rPr>
              <a:t>A fern looks like a fern ... until you reach a single</a:t>
            </a:r>
            <a:r>
              <a:rPr sz="2370" b="1" i="0">
                <a:solidFill>
                  <a:srgbClr val="9B4632"/>
                </a:solidFill>
                <a:latin typeface="Arial"/>
              </a:rPr>
              <a:t>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7429" y="2424764"/>
            <a:ext cx="5997142" cy="3860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2370" b="0" i="0">
                <a:solidFill>
                  <a:srgbClr val="191919"/>
                </a:solidFill>
                <a:latin typeface="Arial"/>
              </a:rPr>
              <a:t>Lungs stop branching after about</a:t>
            </a:r>
            <a:r>
              <a:rPr sz="2370" b="1" i="0">
                <a:solidFill>
                  <a:srgbClr val="9B4632"/>
                </a:solidFill>
                <a:latin typeface="Arial"/>
              </a:rPr>
              <a:t> 23 splits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429" y="2964554"/>
            <a:ext cx="4353909" cy="3860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2370" b="0" i="0">
                <a:solidFill>
                  <a:srgbClr val="191919"/>
                </a:solidFill>
                <a:latin typeface="Arial"/>
              </a:rPr>
              <a:t>A tree runs out at the last</a:t>
            </a:r>
            <a:r>
              <a:rPr sz="2370" b="1" i="0">
                <a:solidFill>
                  <a:srgbClr val="9B4632"/>
                </a:solidFill>
                <a:latin typeface="Arial"/>
              </a:rPr>
              <a:t> twig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7429" y="3504370"/>
            <a:ext cx="7463517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2370" b="0" i="0">
                <a:solidFill>
                  <a:srgbClr val="191919"/>
                </a:solidFill>
                <a:latin typeface="Arial"/>
              </a:rPr>
              <a:t>Only the mathematical ones — Sierpinski, Koch — 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8427" y="3908577"/>
            <a:ext cx="1504312" cy="3860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0" i="0">
                <a:solidFill>
                  <a:srgbClr val="191919"/>
                </a:solidFill>
                <a:latin typeface="Arial"/>
              </a:rPr>
              <a:t>on</a:t>
            </a:r>
            <a:r>
              <a:rPr sz="2370" b="1" i="0">
                <a:solidFill>
                  <a:srgbClr val="9B4632"/>
                </a:solidFill>
                <a:latin typeface="Arial"/>
              </a:rPr>
              <a:t> forever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448" y="5012607"/>
            <a:ext cx="7307149" cy="30857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A fractal is a</a:t>
            </a:r>
            <a:r>
              <a:rPr sz="1780" b="1" i="0">
                <a:solidFill>
                  <a:srgbClr val="9B4632"/>
                </a:solidFill>
                <a:latin typeface="Arial"/>
              </a:rPr>
              <a:t> model</a:t>
            </a:r>
            <a:r>
              <a:rPr sz="1780" b="0" i="0">
                <a:solidFill>
                  <a:srgbClr val="000000"/>
                </a:solidFill>
                <a:latin typeface="Arial"/>
              </a:rPr>
              <a:t> of nature — and every good model knows the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448" y="5330197"/>
            <a:ext cx="157842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000000"/>
                </a:solidFill>
                <a:latin typeface="Arial"/>
              </a:rPr>
              <a:t>where it works.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77" y="6628584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8896" y="6628584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6973" y="6628584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29 / 31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64" y="1472027"/>
            <a:ext cx="1781607" cy="13362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08975" y="-48980958"/>
            <a:ext cx="1578486" cy="13040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3068" y="127907"/>
            <a:ext cx="7695810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One rule, repeated, explains what smooth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068" y="532140"/>
            <a:ext cx="1269306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couldn’t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188" y="1084785"/>
            <a:ext cx="235259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7A5C4B"/>
                </a:solidFill>
                <a:latin typeface="Arial"/>
              </a:rPr>
              <a:t>Part 1 — the surprise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436" y="3007377"/>
            <a:ext cx="1090114" cy="30216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zero area,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882" y="3353873"/>
            <a:ext cx="129122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infinite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80" y="6628591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8899" y="6628591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951" y="6628591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30 / 31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64" y="1472027"/>
            <a:ext cx="1781607" cy="13362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08975" y="-48980965"/>
            <a:ext cx="1578486" cy="13040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3068" y="127907"/>
            <a:ext cx="7695810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One rule, repeated, explains what smooth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068" y="532140"/>
            <a:ext cx="1269306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couldn’t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188" y="1084785"/>
            <a:ext cx="235259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7A5C4B"/>
                </a:solidFill>
                <a:latin typeface="Arial"/>
              </a:rPr>
              <a:t>Part 1 — the surprise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436" y="3007377"/>
            <a:ext cx="1090114" cy="30216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zero area,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882" y="3353873"/>
            <a:ext cx="129122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infinite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7235" y="1084785"/>
            <a:ext cx="228954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7A5C4B"/>
                </a:solidFill>
                <a:latin typeface="Arial"/>
              </a:rPr>
              <a:t>Part 2 — the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4614" y="3428568"/>
            <a:ext cx="105780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Sierpinski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1307" y="3775039"/>
            <a:ext cx="58440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Koch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80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8899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951" y="6628585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30 / 31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64" y="1472027"/>
            <a:ext cx="1781607" cy="13362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247" y="1422760"/>
            <a:ext cx="1578486" cy="13040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3068" y="127907"/>
            <a:ext cx="7695810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One rule, repeated, explains what smooth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068" y="532140"/>
            <a:ext cx="1269306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couldn’t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188" y="1084785"/>
            <a:ext cx="235259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7A5C4B"/>
                </a:solidFill>
                <a:latin typeface="Arial"/>
              </a:rPr>
              <a:t>Part 1 — the surprise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436" y="3007377"/>
            <a:ext cx="1090114" cy="30216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zero area,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882" y="3353873"/>
            <a:ext cx="129122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infinite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7235" y="1084785"/>
            <a:ext cx="228954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7A5C4B"/>
                </a:solidFill>
                <a:latin typeface="Arial"/>
              </a:rPr>
              <a:t>Part 2 — the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4614" y="3428568"/>
            <a:ext cx="105780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Sierpinski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1307" y="3775039"/>
            <a:ext cx="58440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Koch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426" y="1084782"/>
            <a:ext cx="206018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7A5C4B"/>
                </a:solidFill>
                <a:latin typeface="Arial"/>
              </a:rPr>
              <a:t>Part 3 — the world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9824" y="2954855"/>
            <a:ext cx="192935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trees, lungs, ferns,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7701" y="3301326"/>
            <a:ext cx="135359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game worlds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80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8899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951" y="6628585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30 / 31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64" y="1472027"/>
            <a:ext cx="1781607" cy="13362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247" y="1422760"/>
            <a:ext cx="1578486" cy="13040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3068" y="127907"/>
            <a:ext cx="7695810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One rule, repeated, explains what smooth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068" y="532140"/>
            <a:ext cx="1269306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couldn’t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188" y="1084785"/>
            <a:ext cx="235259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7A5C4B"/>
                </a:solidFill>
                <a:latin typeface="Arial"/>
              </a:rPr>
              <a:t>Part 1 — the surprise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436" y="3007377"/>
            <a:ext cx="1090114" cy="30216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zero area,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882" y="3353873"/>
            <a:ext cx="129122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infinite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7235" y="1084785"/>
            <a:ext cx="228954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7A5C4B"/>
                </a:solidFill>
                <a:latin typeface="Arial"/>
              </a:rPr>
              <a:t>Part 2 — the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4614" y="3428568"/>
            <a:ext cx="105780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Sierpinski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1307" y="3775039"/>
            <a:ext cx="58440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Koch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426" y="1084782"/>
            <a:ext cx="206018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7A5C4B"/>
                </a:solidFill>
                <a:latin typeface="Arial"/>
              </a:rPr>
              <a:t>Part 3 — the world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9824" y="2954855"/>
            <a:ext cx="192935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trees, lungs, ferns,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7701" y="3301326"/>
            <a:ext cx="135359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game worlds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7043" y="4527955"/>
            <a:ext cx="5789862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1">
                <a:solidFill>
                  <a:srgbClr val="191919"/>
                </a:solidFill>
                <a:latin typeface="Arial"/>
              </a:rPr>
              <a:t>“Clouds are not spheres, mountains are not cones,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78427" y="4866869"/>
            <a:ext cx="4987185" cy="33485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1">
                <a:solidFill>
                  <a:srgbClr val="191919"/>
                </a:solidFill>
                <a:latin typeface="Arial"/>
              </a:rPr>
              <a:t>coastlines are not circles...” </a:t>
            </a:r>
            <a:r>
              <a:rPr sz="1980" b="0" i="0">
                <a:solidFill>
                  <a:srgbClr val="191919"/>
                </a:solidFill>
                <a:latin typeface="Arial"/>
              </a:rPr>
              <a:t>— Mandelbrot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4892" y="5295788"/>
            <a:ext cx="6364821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9B4632"/>
                </a:solidFill>
                <a:latin typeface="Arial"/>
              </a:rPr>
              <a:t>Roughness has a number, and simple rules make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0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8899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6951" y="6628585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30 / 31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64" y="1472027"/>
            <a:ext cx="1781607" cy="13362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247" y="1422760"/>
            <a:ext cx="1578486" cy="13040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3068" y="127907"/>
            <a:ext cx="7695810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One rule, repeated, explains what smooth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068" y="532140"/>
            <a:ext cx="1269306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couldn’t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188" y="1084785"/>
            <a:ext cx="235259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7A5C4B"/>
                </a:solidFill>
                <a:latin typeface="Arial"/>
              </a:rPr>
              <a:t>Part 1 — the surprise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436" y="3007377"/>
            <a:ext cx="1090114" cy="30216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zero area,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882" y="3353873"/>
            <a:ext cx="1291225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infinite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7235" y="1084785"/>
            <a:ext cx="2289547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7A5C4B"/>
                </a:solidFill>
                <a:latin typeface="Arial"/>
              </a:rPr>
              <a:t>Part 2 — the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4614" y="3428568"/>
            <a:ext cx="1057801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Sierpinski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1307" y="3775039"/>
            <a:ext cx="584400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Koch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426" y="1084782"/>
            <a:ext cx="2060189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1" i="0">
                <a:solidFill>
                  <a:srgbClr val="7A5C4B"/>
                </a:solidFill>
                <a:latin typeface="Arial"/>
              </a:rPr>
              <a:t>Part 3 — the world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9824" y="2954855"/>
            <a:ext cx="1929352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trees, lungs, ferns,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7701" y="3301326"/>
            <a:ext cx="1353593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0">
                <a:solidFill>
                  <a:srgbClr val="191919"/>
                </a:solidFill>
                <a:latin typeface="Arial"/>
              </a:rPr>
              <a:t>game worlds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7043" y="4527955"/>
            <a:ext cx="5789862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1">
                <a:solidFill>
                  <a:srgbClr val="191919"/>
                </a:solidFill>
                <a:latin typeface="Arial"/>
              </a:rPr>
              <a:t>“Clouds are not spheres, mountains are not cones,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78427" y="4866869"/>
            <a:ext cx="4987185" cy="33485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0" i="1">
                <a:solidFill>
                  <a:srgbClr val="191919"/>
                </a:solidFill>
                <a:latin typeface="Arial"/>
              </a:rPr>
              <a:t>coastlines are not circles...” </a:t>
            </a:r>
            <a:r>
              <a:rPr sz="1980" b="0" i="0">
                <a:solidFill>
                  <a:srgbClr val="191919"/>
                </a:solidFill>
                <a:latin typeface="Arial"/>
              </a:rPr>
              <a:t>— Mandelbrot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4892" y="5295788"/>
            <a:ext cx="6364821" cy="3272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980" b="1" i="0">
                <a:solidFill>
                  <a:srgbClr val="9B4632"/>
                </a:solidFill>
                <a:latin typeface="Arial"/>
              </a:rPr>
              <a:t>Roughness has a number, and simple rules make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6369" y="6166808"/>
            <a:ext cx="3451244" cy="302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780" b="0" i="1">
                <a:solidFill>
                  <a:srgbClr val="6B6257"/>
                </a:solidFill>
                <a:latin typeface="Arial"/>
              </a:rPr>
              <a:t>Thank you — questions welcome.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0" y="6628585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8899" y="6628585"/>
            <a:ext cx="517585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6951" y="6628585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30 / 31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68" y="127907"/>
            <a:ext cx="1700150" cy="37748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2370" b="1" i="0">
                <a:solidFill>
                  <a:srgbClr val="F8F6F2"/>
                </a:solidFill>
                <a:latin typeface="Century Gothic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587" y="1832759"/>
            <a:ext cx="7102036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580" b="0" i="0">
                <a:solidFill>
                  <a:srgbClr val="191919"/>
                </a:solidFill>
                <a:latin typeface="Arial"/>
              </a:rPr>
              <a:t>B. Mandelbrot, “How long is the coast of Britain? Statistical self-similarity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8428" y="2107053"/>
            <a:ext cx="3358433" cy="2831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191919"/>
                </a:solidFill>
                <a:latin typeface="Arial"/>
              </a:rPr>
              <a:t>fractional dimension,”</a:t>
            </a:r>
            <a:r>
              <a:rPr sz="1580" b="0" i="1">
                <a:solidFill>
                  <a:srgbClr val="191919"/>
                </a:solidFill>
                <a:latin typeface="Arial"/>
              </a:rPr>
              <a:t> Science</a:t>
            </a:r>
            <a:r>
              <a:rPr sz="1580" b="0" i="0">
                <a:solidFill>
                  <a:srgbClr val="191919"/>
                </a:solidFill>
                <a:latin typeface="Arial"/>
              </a:rPr>
              <a:t>, 1967.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587" y="2481775"/>
            <a:ext cx="5060510" cy="2831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580" b="0" i="0">
                <a:solidFill>
                  <a:srgbClr val="191919"/>
                </a:solidFill>
                <a:latin typeface="Arial"/>
              </a:rPr>
              <a:t>B. Mandelbrot,</a:t>
            </a:r>
            <a:r>
              <a:rPr sz="1580" b="0" i="1">
                <a:solidFill>
                  <a:srgbClr val="191919"/>
                </a:solidFill>
                <a:latin typeface="Arial"/>
              </a:rPr>
              <a:t> The Fractal Geometry of Nature</a:t>
            </a:r>
            <a:r>
              <a:rPr sz="1580" b="0" i="0">
                <a:solidFill>
                  <a:srgbClr val="191919"/>
                </a:solidFill>
                <a:latin typeface="Arial"/>
              </a:rPr>
              <a:t>, 1982.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587" y="2856496"/>
            <a:ext cx="5905924" cy="2831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580" b="0" i="0">
                <a:solidFill>
                  <a:srgbClr val="191919"/>
                </a:solidFill>
                <a:latin typeface="Arial"/>
              </a:rPr>
              <a:t>E. R. Weibel,</a:t>
            </a:r>
            <a:r>
              <a:rPr sz="1580" b="0" i="1">
                <a:solidFill>
                  <a:srgbClr val="191919"/>
                </a:solidFill>
                <a:latin typeface="Arial"/>
              </a:rPr>
              <a:t> Morphometry of the Human Lung</a:t>
            </a:r>
            <a:r>
              <a:rPr sz="1580" b="0" i="0">
                <a:solidFill>
                  <a:srgbClr val="191919"/>
                </a:solidFill>
                <a:latin typeface="Arial"/>
              </a:rPr>
              <a:t>, Springer, 1963.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587" y="3231218"/>
            <a:ext cx="7110475" cy="2831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580" b="0" i="0">
                <a:solidFill>
                  <a:srgbClr val="191919"/>
                </a:solidFill>
                <a:latin typeface="Arial"/>
              </a:rPr>
              <a:t>M. F. Barnsley,</a:t>
            </a:r>
            <a:r>
              <a:rPr sz="1580" b="0" i="1">
                <a:solidFill>
                  <a:srgbClr val="191919"/>
                </a:solidFill>
                <a:latin typeface="Arial"/>
              </a:rPr>
              <a:t> Fractals Everywhere</a:t>
            </a:r>
            <a:r>
              <a:rPr sz="1580" b="0" i="0">
                <a:solidFill>
                  <a:srgbClr val="191919"/>
                </a:solidFill>
                <a:latin typeface="Arial"/>
              </a:rPr>
              <a:t>, Academic Press, 1988 (iterated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8428" y="3505537"/>
            <a:ext cx="1718220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191919"/>
                </a:solidFill>
                <a:latin typeface="Arial"/>
              </a:rPr>
              <a:t>systems, the fern).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587" y="3880258"/>
            <a:ext cx="7336441" cy="2831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580" b="0" i="0">
                <a:solidFill>
                  <a:srgbClr val="191919"/>
                </a:solidFill>
                <a:latin typeface="Arial"/>
              </a:rPr>
              <a:t>A. E. Bosman,</a:t>
            </a:r>
            <a:r>
              <a:rPr sz="1580" b="0" i="1">
                <a:solidFill>
                  <a:srgbClr val="191919"/>
                </a:solidFill>
                <a:latin typeface="Arial"/>
              </a:rPr>
              <a:t> Het wondere onderzoekingsveld van de vlakke meetkunde</a:t>
            </a:r>
            <a:r>
              <a:rPr sz="1580" b="0" i="0">
                <a:solidFill>
                  <a:srgbClr val="191919"/>
                </a:solidFill>
                <a:latin typeface="Arial"/>
              </a:rPr>
              <a:t>, 1957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8428" y="4154552"/>
            <a:ext cx="2958724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191919"/>
                </a:solidFill>
                <a:latin typeface="Arial"/>
              </a:rPr>
              <a:t>(Pythagorean tree, drawn 1942).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587" y="4529274"/>
            <a:ext cx="7403527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580" b="0" i="0">
                <a:solidFill>
                  <a:srgbClr val="191919"/>
                </a:solidFill>
                <a:latin typeface="Arial"/>
              </a:rPr>
              <a:t>A. Fournier, D. Fussell, L. Carpenter, “Computer rendering of stochastic models,”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8428" y="4803568"/>
            <a:ext cx="3188305" cy="2831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1">
                <a:solidFill>
                  <a:srgbClr val="191919"/>
                </a:solidFill>
                <a:latin typeface="Arial"/>
              </a:rPr>
              <a:t>Comm. ACM</a:t>
            </a:r>
            <a:r>
              <a:rPr sz="1580" b="0" i="0">
                <a:solidFill>
                  <a:srgbClr val="191919"/>
                </a:solidFill>
                <a:latin typeface="Arial"/>
              </a:rPr>
              <a:t>, 1982 (fractal terrain).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587" y="5178289"/>
            <a:ext cx="5602226" cy="27705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1580" b="0" i="0">
                <a:solidFill>
                  <a:srgbClr val="9B4632"/>
                </a:solidFill>
                <a:latin typeface="Arial"/>
              </a:rPr>
              <a:t>• </a:t>
            </a:r>
            <a:r>
              <a:rPr sz="1580" b="0" i="0">
                <a:solidFill>
                  <a:srgbClr val="191919"/>
                </a:solidFill>
                <a:latin typeface="Arial"/>
              </a:rPr>
              <a:t>3Blue1Brown, “Fractals are typically not self-similar” (video).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78" y="6628588"/>
            <a:ext cx="1208287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Aditya, Sami, Pritom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8897" y="6628588"/>
            <a:ext cx="517586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Fractals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975" y="6628588"/>
            <a:ext cx="432094" cy="20173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sz="990" b="0" i="0">
                <a:solidFill>
                  <a:srgbClr val="8B8A88"/>
                </a:solidFill>
                <a:latin typeface="Arial"/>
              </a:rPr>
              <a:t>31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5804</Words>
  <Application>Microsoft Office PowerPoint</Application>
  <PresentationFormat>On-screen Show (4:3)</PresentationFormat>
  <Paragraphs>1095</Paragraphs>
  <Slides>110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4" baseType="lpstr">
      <vt:lpstr>Arial</vt:lpstr>
      <vt:lpstr>Calibri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Pritom Biswas</cp:lastModifiedBy>
  <cp:revision>2</cp:revision>
  <dcterms:created xsi:type="dcterms:W3CDTF">2013-01-27T09:14:16Z</dcterms:created>
  <dcterms:modified xsi:type="dcterms:W3CDTF">2026-09-15T11:49:09Z</dcterms:modified>
  <cp:category/>
</cp:coreProperties>
</file>