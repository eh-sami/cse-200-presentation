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9144000" cy="685799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1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4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4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77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7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7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7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88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Relationship Id="rId3" Type="http://schemas.openxmlformats.org/officeDocument/2006/relationships/image" Target="../media/image90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86249" y="1826066"/>
            <a:ext cx="1681461" cy="51005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3420" b="1" i="0">
                <a:solidFill>
                  <a:srgbClr val="F8F6F2"/>
                </a:solidFill>
                <a:latin typeface="Century Gothic"/>
              </a:rPr>
              <a:t>Fractals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71839" y="2512141"/>
            <a:ext cx="339588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9F7F4"/>
                </a:solidFill>
                <a:latin typeface="Arial"/>
              </a:rPr>
              <a:t>Infinite Details from Simple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3727" y="3281670"/>
            <a:ext cx="289401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Aditya Tirtho Roy (2305178)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2443" y="3599285"/>
            <a:ext cx="31452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Farhan Ehsas Sami (2305177)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3122" y="3916900"/>
            <a:ext cx="25946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F8F6F2"/>
                </a:solidFill>
                <a:latin typeface="Arial"/>
              </a:rPr>
              <a:t>Pritom Biswas (2305160)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1352" y="4439128"/>
            <a:ext cx="4016351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9F8F5"/>
                </a:solidFill>
                <a:latin typeface="Arial"/>
              </a:rPr>
              <a:t>Department of Computer Science and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7271" y="4670100"/>
            <a:ext cx="492041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9F8F5"/>
                </a:solidFill>
                <a:latin typeface="Arial"/>
              </a:rPr>
              <a:t>Bangladesh University of Engineering and Technology (BUET)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54394" y="5227483"/>
            <a:ext cx="181332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FAF8F5"/>
                </a:solidFill>
                <a:latin typeface="Arial"/>
              </a:rPr>
              <a:t>CSE 200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1327150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History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741" y="-48847931"/>
            <a:ext cx="1896175" cy="1571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8456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So, You’re Designing All the Trees...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1" y="801736"/>
            <a:ext cx="76142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Imagine you’re a game developer. You’ve just been handed one job: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1" y="1119351"/>
            <a:ext cx="383968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every tree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in the game —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60" y="6628585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741" y="-48847931"/>
            <a:ext cx="1896175" cy="1571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8456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So, You’re Designing All the Trees...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1" y="801736"/>
            <a:ext cx="76142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Imagine you’re a game developer. You’ve just been handed one job: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1" y="1119351"/>
            <a:ext cx="383968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every tree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in the game —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9" y="1650700"/>
            <a:ext cx="42290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You could hand-draw every branch, every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9" y="1968315"/>
            <a:ext cx="32641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twig, every leaf, one at a time...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6760" y="6628585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51741" y="-48847931"/>
            <a:ext cx="1896175" cy="1571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8456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So, You’re Designing All the Trees...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1" y="801736"/>
            <a:ext cx="76142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Imagine you’re a game developer. You’ve just been handed one job: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1" y="1119351"/>
            <a:ext cx="383968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every tree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in the game —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9" y="1650700"/>
            <a:ext cx="42290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You could hand-draw every branch, every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9" y="1968315"/>
            <a:ext cx="32641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twig, every leaf, one at a time...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399889"/>
            <a:ext cx="334842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(kind of like how Rockstar’s been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717504"/>
            <a:ext cx="37838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“finishing” GTA 6 for the last decade.)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60" y="6628585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015" y="1555796"/>
            <a:ext cx="1896175" cy="15715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8456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So, You’re Designing All the Trees...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1" y="801736"/>
            <a:ext cx="76142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Imagine you’re a game developer. You’ve just been handed one job: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1" y="1119351"/>
            <a:ext cx="383968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every tree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in the game —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9" y="1650700"/>
            <a:ext cx="42290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You could hand-draw every branch, every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9" y="1968315"/>
            <a:ext cx="32641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twig, every leaf, one at a time...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399889"/>
            <a:ext cx="334842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(kind of like how Rockstar’s been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717504"/>
            <a:ext cx="37838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“finishing” GTA 6 for the last decade.)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4892" y="3718284"/>
            <a:ext cx="592287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Or, you write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one rule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— “a branch splits into two smaller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4892" y="4035899"/>
            <a:ext cx="62941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branches” — and let that rule call itself, again and again, at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4892" y="4353489"/>
            <a:ext cx="259754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smaller scale every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8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015" y="1555796"/>
            <a:ext cx="1896175" cy="15715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8456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So, You’re Designing All the Trees...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1" y="801736"/>
            <a:ext cx="76142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Imagine you’re a game developer. You’ve just been handed one job: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61" y="1119351"/>
            <a:ext cx="383968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every tree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in the game —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9" y="1650700"/>
            <a:ext cx="42290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You could hand-draw every branch, every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9" y="1968315"/>
            <a:ext cx="32641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twig, every leaf, one at a time...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399889"/>
            <a:ext cx="334842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(kind of like how Rockstar’s been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717504"/>
            <a:ext cx="37838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“finishing” GTA 6 for the last decade.)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4892" y="3718284"/>
            <a:ext cx="592287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Or, you write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one rule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— “a branch splits into two smaller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4892" y="4035899"/>
            <a:ext cx="62941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branches” — and let that rule call itself, again and again, at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4892" y="4353489"/>
            <a:ext cx="259754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smaller scale every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451" y="5438240"/>
            <a:ext cx="730714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Trunk becomes branch, branch becomes twig, twig becomes leaf —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451" y="5755830"/>
            <a:ext cx="730714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rule, every time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 The engine genuinely can’t tell the whole tree apart from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451" y="6073445"/>
            <a:ext cx="19557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one tiny piece of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6760" y="6628588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343" y="1826588"/>
            <a:ext cx="2622573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0" y="662859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9" y="662859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60" y="6628592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151" y="1826582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1695764"/>
            <a:ext cx="40059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Cut a smaller triangle out of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60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934" y="1826582"/>
            <a:ext cx="2622573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1695764"/>
            <a:ext cx="40059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Cut a smaller triangle out of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2120535"/>
            <a:ext cx="37886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do that again, inside each of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438125"/>
            <a:ext cx="30164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three triangles you’ve got left.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60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9848" y="2012368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1695764"/>
            <a:ext cx="40059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Cut a smaller triangle out of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2120535"/>
            <a:ext cx="37886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do that again, inside each of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438125"/>
            <a:ext cx="30164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three triangles you’ve got left.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862898"/>
            <a:ext cx="21819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again — forever.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60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258080"/>
            <a:ext cx="2623211" cy="14755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1695764"/>
            <a:ext cx="40059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Cut a smaller triangle out of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2120535"/>
            <a:ext cx="37886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do that again, inside each of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438125"/>
            <a:ext cx="30164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three triangles you’ve got left.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862898"/>
            <a:ext cx="21819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again — forever.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648" y="3527889"/>
            <a:ext cx="38557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It’s basically filming yourself watching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648" y="3845479"/>
            <a:ext cx="382092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TV, while the TV plays that exact 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48" y="4163094"/>
            <a:ext cx="20721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you watching TV.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258080"/>
            <a:ext cx="2623211" cy="14755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43431"/>
            <a:ext cx="1389813" cy="38048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D´ej`a Vu?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736" y="953400"/>
            <a:ext cx="3915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Here’s the simplest possible version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1271015"/>
            <a:ext cx="32322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same trick: draw a triangle.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1695764"/>
            <a:ext cx="400599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Cut a smaller triangle out of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2120535"/>
            <a:ext cx="37886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do that again, inside each of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2438125"/>
            <a:ext cx="30164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three triangles you’ve got left.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862898"/>
            <a:ext cx="21819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again — forever.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648" y="3527889"/>
            <a:ext cx="38557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It’s basically filming yourself watching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648" y="3845479"/>
            <a:ext cx="382092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TV, while the TV plays that exact 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48" y="4163094"/>
            <a:ext cx="20721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you watching TV.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451" y="5391041"/>
            <a:ext cx="730714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Weird, right? That’s a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fractal </a:t>
            </a:r>
            <a:r>
              <a:rPr sz="1780" b="0" i="0">
                <a:solidFill>
                  <a:srgbClr val="000000"/>
                </a:solidFill>
                <a:latin typeface="Arial"/>
              </a:rPr>
              <a:t>— a shape built out of smaller copies 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451" y="5708656"/>
            <a:ext cx="6036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75165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are Fractals?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180" y="849182"/>
            <a:ext cx="123389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180" y="1349318"/>
            <a:ext cx="700555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is a geometric shape containing detailed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180" y="1695814"/>
            <a:ext cx="700555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at arbitrarily small scales, usually having 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180" y="2042285"/>
            <a:ext cx="520586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strictly exceeding the</a:t>
            </a:r>
            <a:r>
              <a:rPr sz="1980" b="1" i="0">
                <a:solidFill>
                  <a:srgbClr val="9B4632"/>
                </a:solidFill>
                <a:latin typeface="Arial"/>
              </a:rPr>
              <a:t> topological dimension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2" y="2841389"/>
            <a:ext cx="2494031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Key Characteristics: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022" y="3344978"/>
            <a:ext cx="6542079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Scale invariance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Details at every level of magnification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022" y="3722799"/>
            <a:ext cx="6836838" cy="3348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More than the</a:t>
            </a:r>
            <a:r>
              <a:rPr sz="1980" b="0" i="1">
                <a:solidFill>
                  <a:srgbClr val="191919"/>
                </a:solidFill>
                <a:latin typeface="Arial"/>
              </a:rPr>
              <a:t> conventional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022" y="4071765"/>
            <a:ext cx="6728875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Infinite complexity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Generated by simple, recursive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58" y="4430381"/>
            <a:ext cx="40328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Like the infinite complexities of 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4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3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6753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75165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are Fractals?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180" y="849182"/>
            <a:ext cx="123389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180" y="1349318"/>
            <a:ext cx="700555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is a geometric shape containing detailed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180" y="1695814"/>
            <a:ext cx="700555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at arbitrarily small scales, usually having 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180" y="2042285"/>
            <a:ext cx="520586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strictly exceeding the</a:t>
            </a:r>
            <a:r>
              <a:rPr sz="1980" b="1" i="0">
                <a:solidFill>
                  <a:srgbClr val="9B4632"/>
                </a:solidFill>
                <a:latin typeface="Arial"/>
              </a:rPr>
              <a:t> topological dimension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2" y="2841389"/>
            <a:ext cx="2494031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Key Characteristics: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022" y="3344978"/>
            <a:ext cx="6542079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Scale invariance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Details at every level of magnification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022" y="3722799"/>
            <a:ext cx="6836838" cy="3348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Fractal dimension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More than the</a:t>
            </a:r>
            <a:r>
              <a:rPr sz="1980" b="0" i="1">
                <a:solidFill>
                  <a:srgbClr val="191919"/>
                </a:solidFill>
                <a:latin typeface="Arial"/>
              </a:rPr>
              <a:t> conventional </a:t>
            </a:r>
            <a:r>
              <a:rPr sz="1980" b="0" i="0">
                <a:solidFill>
                  <a:srgbClr val="191919"/>
                </a:solidFill>
                <a:latin typeface="Arial"/>
              </a:rPr>
              <a:t>dimension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022" y="4071765"/>
            <a:ext cx="6728875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Infinite complexity</a:t>
            </a:r>
            <a:r>
              <a:rPr sz="1980" b="0" i="0">
                <a:solidFill>
                  <a:srgbClr val="191919"/>
                </a:solidFill>
                <a:latin typeface="Arial"/>
              </a:rPr>
              <a:t>: Generated by simple, recursive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58" y="4430381"/>
            <a:ext cx="40328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Like the infinite complexities of nature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8706" y="5264223"/>
            <a:ext cx="4966594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”Clouds are not spheres, mountains are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1573" y="5610693"/>
            <a:ext cx="3956530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1">
                <a:solidFill>
                  <a:srgbClr val="191919"/>
                </a:solidFill>
                <a:latin typeface="Arial"/>
              </a:rPr>
              <a:t>cones, coastlines are not circles...”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3566" y="5956703"/>
            <a:ext cx="262634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191919"/>
                </a:solidFill>
                <a:latin typeface="Arial"/>
              </a:rPr>
              <a:t>— Benoit Mandelbrot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77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6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6756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4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031400"/>
            <a:ext cx="779139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349015"/>
            <a:ext cx="99317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2" y="2132349"/>
            <a:ext cx="35170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5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031400"/>
            <a:ext cx="779139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349015"/>
            <a:ext cx="99317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2" y="2132349"/>
            <a:ext cx="35170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4" y="3172547"/>
            <a:ext cx="776156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honest answer: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it depends on your ruler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 Measure with a 100 km ruler,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4" y="3490161"/>
            <a:ext cx="74768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get one length. Use a 1 km ruler, and the measured length grows — every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4" y="3807776"/>
            <a:ext cx="761898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bay and inlet you’d smoothed over now counts. The length never converges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4" y="4125366"/>
            <a:ext cx="19797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to a single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5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36628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Mandelbrot’s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031400"/>
            <a:ext cx="779139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In the 1960s, working at IBM,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Benoit Mandelbrot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asked a deceptively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349015"/>
            <a:ext cx="99317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question: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2" y="2132349"/>
            <a:ext cx="35170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“How long is the coast of Britain?”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4" y="3172547"/>
            <a:ext cx="776156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honest answer: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it depends on your ruler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 Measure with a 100 km ruler,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4" y="3490161"/>
            <a:ext cx="74768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get one length. Use a 1 km ruler, and the measured length grows — every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4" y="3807776"/>
            <a:ext cx="761898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bay and inlet you’d smoothed over now counts. The length never converges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4" y="4125366"/>
            <a:ext cx="19797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to a single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4" y="4711403"/>
            <a:ext cx="697294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Mandelbrot’s insight: this isn’t a flaw in the coastline — it’s a sign that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64" y="5028993"/>
            <a:ext cx="778868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classical length and area are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the wrong tools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for something like this. What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64" y="5346608"/>
            <a:ext cx="7134735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coastline actually needed was exactly the kind of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“useless” geometry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264" y="5664223"/>
            <a:ext cx="740747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mathematicians had quietly been building for a century already — without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64" y="5981812"/>
            <a:ext cx="140985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knowing why.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5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2319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Borrowed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35156"/>
            <a:ext cx="41169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wasn’t building from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874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8893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06753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2319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Borrowed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35156"/>
            <a:ext cx="41169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wasn’t building from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7781" y="1575602"/>
            <a:ext cx="615448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Back in 1872,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broke an assumption every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1" y="1893217"/>
            <a:ext cx="53785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mathematician had taken for granted — on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4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3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6753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2319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Borrowed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35156"/>
            <a:ext cx="41169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wasn’t building from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7781" y="1575602"/>
            <a:ext cx="615448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Back in 1872,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broke an assumption every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1" y="1893217"/>
            <a:ext cx="53785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mathematician had taken for granted — on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858964"/>
            <a:ext cx="755932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set off a decades-long spree: mathematicians started building weirder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3176554"/>
            <a:ext cx="7584408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weirder shapes on purpose, just to see where ordinary geometry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494169"/>
            <a:ext cx="582209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down —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Cantor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dust and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Koch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endless jagged curve.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74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3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53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2319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Borrowed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35156"/>
            <a:ext cx="41169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wasn’t building from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7781" y="1575602"/>
            <a:ext cx="615448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Back in 1872,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broke an assumption every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1" y="1893217"/>
            <a:ext cx="53785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mathematician had taken for granted — on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858964"/>
            <a:ext cx="755932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set off a decades-long spree: mathematicians started building weirder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3176554"/>
            <a:ext cx="7584408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weirder shapes on purpose, just to see where ordinary geometry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494169"/>
            <a:ext cx="582209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down —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Cantor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dust and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Koch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endless jagged curve.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4080179"/>
            <a:ext cx="703689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For nearly a century, these were dismissed as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beautiful but useless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4397794"/>
            <a:ext cx="758938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 the one who realized they weren’t useless at all — he gave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61" y="4715409"/>
            <a:ext cx="339791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family a name: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fractal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4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3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06753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22319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Borrowed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35156"/>
            <a:ext cx="41169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wasn’t building from 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7781" y="1575602"/>
            <a:ext cx="615448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Back in 1872,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Karl Weierstrass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broke an assumption every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81" y="1893217"/>
            <a:ext cx="53785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mathematician had taken for granted — on purpose.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2858964"/>
            <a:ext cx="755932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set off a decades-long spree: mathematicians started building weirder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61" y="3176554"/>
            <a:ext cx="7584408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weirder shapes on purpose, just to see where ordinary geometry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261" y="3494169"/>
            <a:ext cx="582209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down —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Cantor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dust and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Koch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’s endless jagged curve.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4080179"/>
            <a:ext cx="703689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For nearly a century, these were dismissed as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beautiful but useless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4397794"/>
            <a:ext cx="758938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Mandelbrot was the one who realized they weren’t useless at all — he gave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61" y="4715409"/>
            <a:ext cx="339791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family a name: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fractal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4888" y="5625487"/>
            <a:ext cx="635243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that triangle? The exact one you watched me draw a few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4888" y="5943102"/>
            <a:ext cx="137890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minutes ago.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7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6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6756" y="6628586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6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2542307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Some Fractals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148" y="3994977"/>
            <a:ext cx="250880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3. Repeat for each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3220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0960" y="1954205"/>
            <a:ext cx="386679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construct the Sierpinski Triangle: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489065"/>
            <a:ext cx="24242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Construction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147" y="2971239"/>
            <a:ext cx="318348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1. Start with an equilateral triangle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148" y="3345961"/>
            <a:ext cx="3594442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2. Remove the central triangle (triangle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192" y="3620255"/>
            <a:ext cx="3111777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connecting midpoints of the sides)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148" y="3994977"/>
            <a:ext cx="250880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3. Repeat for each triangle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148" y="4369700"/>
            <a:ext cx="3328906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4. After infinite iterations, we get the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192" y="4644018"/>
            <a:ext cx="1711993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Sierpinski Triangle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7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3004363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Area &amp; Perimeter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2373407"/>
            <a:ext cx="36806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908268"/>
            <a:ext cx="18604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220210"/>
            <a:ext cx="36806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755070"/>
            <a:ext cx="18604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967251"/>
            <a:ext cx="470536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cut out one fourth of the area at each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284865"/>
            <a:ext cx="324358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So, naturally area is reduced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3461" y="5284865"/>
            <a:ext cx="81737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602455"/>
            <a:ext cx="56157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240598"/>
            <a:ext cx="36806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775459"/>
            <a:ext cx="18604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946862"/>
            <a:ext cx="470536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cut out one fourth of the area at each step.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264452"/>
            <a:ext cx="324358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So, naturally area is reduced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3461" y="5264452"/>
            <a:ext cx="81737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582067"/>
            <a:ext cx="56157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6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6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06760" y="6628565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68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13396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886967"/>
            <a:ext cx="368060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area of triangle(s):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421828"/>
            <a:ext cx="186043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Area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5624511"/>
            <a:ext cx="453227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The area of the Sierpinski Triangle is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942101"/>
            <a:ext cx="318256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even though it is a 2D shape.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454" y="4686805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61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61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60" y="6628561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8 / 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2457555"/>
            <a:ext cx="285627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2992416"/>
            <a:ext cx="239484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06760" y="6628562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161995"/>
            <a:ext cx="285627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696855"/>
            <a:ext cx="239484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045227"/>
            <a:ext cx="462876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add half of the previous perimeter at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4362842"/>
            <a:ext cx="399537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 This is because we add the 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158" y="4680432"/>
            <a:ext cx="4578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number of triangles as the last step, but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4998046"/>
            <a:ext cx="435127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triangle is half the size of the previous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58" y="5315661"/>
            <a:ext cx="461362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As a result, the perimeter grows by a factor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279" y="5633252"/>
            <a:ext cx="13655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7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901889"/>
            <a:ext cx="285627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436750"/>
            <a:ext cx="239484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4305332"/>
            <a:ext cx="462876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add half of the previous perimeter at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4622947"/>
            <a:ext cx="399537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step. This is because we add the 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158" y="4940537"/>
            <a:ext cx="4578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number of triangles as the last step, but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8" y="5258151"/>
            <a:ext cx="435127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triangle is half the size of the previous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58" y="5575767"/>
            <a:ext cx="461362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As a result, the perimeter grows by a factor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279" y="5893357"/>
            <a:ext cx="13655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at each step.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6760" y="6628589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689" y="2193371"/>
            <a:ext cx="3085636" cy="23142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4805841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Sierpinski Triangle: Perimeter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158" y="1038381"/>
            <a:ext cx="285627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Now let’s find the perimeter: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1050" y="1573241"/>
            <a:ext cx="239484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Perimeter Calculation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158" y="5473104"/>
            <a:ext cx="380149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The Sierpinski Triangle has infinite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8" y="5790719"/>
            <a:ext cx="263685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perimeter but zero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6454" y="4686808"/>
            <a:ext cx="107655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Iteration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6760" y="6628588"/>
            <a:ext cx="36229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9 / 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74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3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45" y="6628587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10 / 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781" y="3952360"/>
            <a:ext cx="589688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If it isn’t a line, and it isn’t a surface — what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its true di-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781" y="4269975"/>
            <a:ext cx="10557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mension?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948" y="6628590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10 / 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1479105"/>
            <a:ext cx="498601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seen something strange, and precise: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2022677"/>
            <a:ext cx="513515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2D shape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(Sierpinski Triangle) with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792" y="2440695"/>
            <a:ext cx="676957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 shape built from a rule so simple a child could apply it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858738"/>
            <a:ext cx="604421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No matter how far we zoom in, there’s always more detail.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781" y="3952360"/>
            <a:ext cx="589688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If it isn’t a line, and it isn’t a surface — what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is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its true di-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7781" y="4269975"/>
            <a:ext cx="10557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mension?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5267755"/>
            <a:ext cx="750170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 number is exactly what Hausdorff was reaching for in 1918 — and it’s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261" y="5585370"/>
            <a:ext cx="364670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where Speaker 2 picks up the 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48" y="6628590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10 / 29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3205022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Fractal Dimension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28502" y="1610456"/>
            <a:ext cx="52451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1">
                <a:solidFill>
                  <a:srgbClr val="7A5C4B"/>
                </a:solidFill>
                <a:latin typeface="Arial"/>
              </a:rPr>
              <a:t>Let’s talk about a property of fractals...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9273" y="3587402"/>
            <a:ext cx="5725470" cy="7289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Fractal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42364" y="4739554"/>
            <a:ext cx="6659300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6B6257"/>
                </a:solidFill>
                <a:latin typeface="Arial"/>
              </a:rPr>
              <a:t>What does it mean for a shape to have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</a:t>
            </a:r>
            <a:r>
              <a:rPr sz="1780" b="0" i="0">
                <a:solidFill>
                  <a:srgbClr val="6B6257"/>
                </a:solidFill>
                <a:latin typeface="Arial"/>
              </a:rPr>
              <a:t> dimension?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11 / 29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12 / 29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4504" y="3662673"/>
            <a:ext cx="670231" cy="26073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Square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7143" y="2811674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2D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12 / 29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4483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Dimensions We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24024"/>
            <a:ext cx="4007244" cy="283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0">
                <a:solidFill>
                  <a:srgbClr val="191919"/>
                </a:solidFill>
                <a:latin typeface="Arial"/>
              </a:rPr>
              <a:t>We are all familiar with integer dimensions: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4028" y="1890588"/>
            <a:ext cx="424978" cy="26073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7143" y="1499010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1D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4504" y="3662673"/>
            <a:ext cx="670231" cy="26073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Square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97143" y="2811674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2D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1005" y="5467590"/>
            <a:ext cx="517248" cy="26073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6B6257"/>
                </a:solidFill>
                <a:latin typeface="Arial"/>
              </a:rPr>
              <a:t>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7143" y="4518141"/>
            <a:ext cx="500714" cy="40837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620" b="1" i="0">
                <a:solidFill>
                  <a:srgbClr val="9B4632"/>
                </a:solidFill>
                <a:latin typeface="Arial"/>
              </a:rPr>
              <a:t>3D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3284" y="6116264"/>
            <a:ext cx="4490553" cy="283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630" b="0" i="1">
                <a:solidFill>
                  <a:srgbClr val="6B6257"/>
                </a:solidFill>
                <a:latin typeface="Arial"/>
              </a:rPr>
              <a:t>Dimensions are always whole numbers...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12 / 29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333787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6384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About This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6545" y="1521719"/>
            <a:ext cx="352415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What dimension does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2196515"/>
            <a:ext cx="178933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shape have?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2866947"/>
            <a:ext cx="148872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1">
                <a:solidFill>
                  <a:srgbClr val="191919"/>
                </a:solidFill>
                <a:latin typeface="Arial"/>
              </a:rPr>
              <a:t>Any guesses?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266" y="3492480"/>
            <a:ext cx="242399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It lives in 2D space...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266" y="3910498"/>
            <a:ext cx="227915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But it has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zero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266" y="4328541"/>
            <a:ext cx="257562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infinite perimeter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736" y="4960898"/>
            <a:ext cx="420258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It’s not quite 2D, but it’s clearly more than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736" y="5278513"/>
            <a:ext cx="61626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7890" y="4479927"/>
            <a:ext cx="191647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Sierpinski Triangle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7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7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87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29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9631" y="2333791"/>
            <a:ext cx="2622573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26384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What About This 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713572"/>
            <a:ext cx="2629610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FFFFFF"/>
                </a:solidFill>
                <a:latin typeface="Arial"/>
              </a:rPr>
              <a:t>Sierpinski 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9654" y="2266429"/>
            <a:ext cx="353372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The Sierpinski Triangle has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612925"/>
            <a:ext cx="2321545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fractal dimension of: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8140" y="3017509"/>
            <a:ext cx="1835123" cy="77920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540" b="1" i="0">
                <a:solidFill>
                  <a:srgbClr val="9B4632"/>
                </a:solidFill>
                <a:latin typeface="Arial"/>
              </a:rPr>
              <a:t>1.585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8066" y="3698910"/>
            <a:ext cx="316989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E69650"/>
                </a:solidFill>
                <a:latin typeface="Arial"/>
              </a:rPr>
              <a:t>!!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654" y="4467229"/>
            <a:ext cx="3533723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 </a:t>
            </a:r>
            <a:r>
              <a:rPr sz="1980" b="1" i="0">
                <a:solidFill>
                  <a:srgbClr val="9B4632"/>
                </a:solidFill>
                <a:latin typeface="Arial"/>
              </a:rPr>
              <a:t>non-integer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dimension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54" y="4813725"/>
            <a:ext cx="3533724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between a line (1D) and a filled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654" y="5160196"/>
            <a:ext cx="153091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surface (2D).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80" y="6628590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9" y="6628590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976" y="6628590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13 / 29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6476" y="2386577"/>
            <a:ext cx="1959748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Line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4628" y="2379456"/>
            <a:ext cx="229605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9106" y="2379456"/>
            <a:ext cx="104910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21750" y="2386577"/>
            <a:ext cx="21579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8825" y="2725927"/>
            <a:ext cx="927588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pieces</a:t>
            </a:r>
            <a:r>
              <a:rPr sz="19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6823" y="2725927"/>
            <a:ext cx="174583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again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3829" y="2725927"/>
            <a:ext cx="871598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pieces.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872" y="4640489"/>
            <a:ext cx="1304049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639" y="4640489"/>
            <a:ext cx="86899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2 pieces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719" y="4640489"/>
            <a:ext cx="868988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29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2635" y="2066190"/>
            <a:ext cx="2297190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Square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73128" y="2059069"/>
            <a:ext cx="1414167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 — Step 1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62168" y="2059069"/>
            <a:ext cx="1049358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2301" y="2405540"/>
            <a:ext cx="2657731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4 self-similar pieces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6334" y="2405540"/>
            <a:ext cx="64814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2" y="4934566"/>
            <a:ext cx="1574004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Square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240" y="4904223"/>
            <a:ext cx="86899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5" y="6628562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29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08241" y="2060116"/>
            <a:ext cx="2297191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Square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0981" y="2052995"/>
            <a:ext cx="1414167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 — Step 2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0021" y="2052995"/>
            <a:ext cx="2015738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each 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045" y="2399466"/>
            <a:ext cx="33756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2131" y="2399466"/>
            <a:ext cx="689069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1990" y="2399466"/>
            <a:ext cx="2252247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self-similar pieces (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53044" y="2399466"/>
            <a:ext cx="64814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grid)!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203" y="4928492"/>
            <a:ext cx="83524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4718" y="4898149"/>
            <a:ext cx="86899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pieces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87034" y="4940639"/>
            <a:ext cx="980667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16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62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29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4077" y="1750566"/>
            <a:ext cx="2071225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Scaling a Cube (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3999" y="1743445"/>
            <a:ext cx="229605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  <a:r>
              <a:rPr sz="19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8477" y="1743445"/>
            <a:ext cx="1049357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Scale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1808" y="2089941"/>
            <a:ext cx="2657730" cy="3343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8 self-similar pieces </a:t>
            </a:r>
            <a:r>
              <a:rPr sz="1980" b="0" i="0">
                <a:solidFill>
                  <a:srgbClr val="000000"/>
                </a:solidFill>
                <a:latin typeface="Arial"/>
              </a:rPr>
              <a:t>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668" y="2089941"/>
            <a:ext cx="133156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grid in 3D).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8009" y="5276500"/>
            <a:ext cx="139323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Cube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3262" y="3932230"/>
            <a:ext cx="64156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0561" y="5276500"/>
            <a:ext cx="1828895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8 separated cubes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62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5" y="6628562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29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71" y="3446170"/>
            <a:ext cx="1388221" cy="10411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444616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Self-Similarity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69778" y="1345955"/>
            <a:ext cx="2804356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Do You See a Pattern?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45462" y="1685305"/>
            <a:ext cx="4350965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Each scaling step multiplies pieces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52529" y="1685305"/>
            <a:ext cx="145997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000000"/>
                </a:solidFill>
                <a:latin typeface="Arial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391" y="2604589"/>
            <a:ext cx="75432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5994" y="2604589"/>
            <a:ext cx="66665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886" y="2604589"/>
            <a:ext cx="9540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1st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6982" y="2604589"/>
            <a:ext cx="102932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2nd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391" y="3140794"/>
            <a:ext cx="503277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07549" y="3147203"/>
            <a:ext cx="2018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391" y="3553671"/>
            <a:ext cx="8035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7549" y="3560080"/>
            <a:ext cx="2018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91" y="3966573"/>
            <a:ext cx="61626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7566" y="3972982"/>
            <a:ext cx="2018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191919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9654" y="4809068"/>
            <a:ext cx="131698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The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8292" y="5499061"/>
            <a:ext cx="197454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 of pieces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06642" y="5123627"/>
            <a:ext cx="2778954" cy="28275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What if the shape is a</a:t>
            </a:r>
            <a:r>
              <a:rPr sz="1580" b="1" i="0">
                <a:solidFill>
                  <a:srgbClr val="9B4632"/>
                </a:solidFill>
                <a:latin typeface="Arial"/>
              </a:rPr>
              <a:t> fractal</a:t>
            </a:r>
            <a:r>
              <a:rPr sz="1580" b="0" i="0">
                <a:solidFill>
                  <a:srgbClr val="191919"/>
                </a:solidFill>
                <a:latin typeface="Arial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36976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14 / 29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290958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Self-Similarity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30544" y="790901"/>
            <a:ext cx="22432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After scaling by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71790" y="790901"/>
            <a:ext cx="374183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, the number of self-similar pieces 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16253" y="2335997"/>
            <a:ext cx="108325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Square 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8441" y="2335997"/>
            <a:ext cx="159807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1" i="0">
                <a:solidFill>
                  <a:srgbClr val="9B4632"/>
                </a:solidFill>
                <a:latin typeface="Arial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2919" y="2328876"/>
            <a:ext cx="1869863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with scale 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1738" y="2328877"/>
            <a:ext cx="145997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5034" y="2780488"/>
            <a:ext cx="871598" cy="32727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80" b="0" i="0">
                <a:solidFill>
                  <a:srgbClr val="191919"/>
                </a:solidFill>
                <a:latin typeface="Arial"/>
              </a:rPr>
              <a:t>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4138" y="5211203"/>
            <a:ext cx="1574003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Original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0156" y="3905517"/>
            <a:ext cx="64156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5959" y="5211203"/>
            <a:ext cx="1873686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1" i="0">
                <a:solidFill>
                  <a:srgbClr val="9B4632"/>
                </a:solidFill>
                <a:latin typeface="Arial"/>
              </a:rPr>
              <a:t>4 separated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29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290958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Self-Similarity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2519" y="787979"/>
            <a:ext cx="2197500" cy="2973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39" b="0" i="0">
                <a:solidFill>
                  <a:srgbClr val="191919"/>
                </a:solidFill>
                <a:latin typeface="Arial"/>
              </a:rPr>
              <a:t>After scaling by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04364" y="787979"/>
            <a:ext cx="3664493" cy="2973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39" b="0" i="0">
                <a:solidFill>
                  <a:srgbClr val="191919"/>
                </a:solidFill>
                <a:latin typeface="Arial"/>
              </a:rPr>
              <a:t>, the number of self-similar pieces 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94353" y="2300498"/>
            <a:ext cx="840806" cy="32197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39" b="1" i="0">
                <a:solidFill>
                  <a:srgbClr val="9B4632"/>
                </a:solidFill>
                <a:latin typeface="Arial"/>
              </a:rPr>
              <a:t>Cube 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19850" y="2300498"/>
            <a:ext cx="158043" cy="32197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39" b="1" i="0">
                <a:solidFill>
                  <a:srgbClr val="9B4632"/>
                </a:solidFill>
                <a:latin typeface="Arial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5794" y="2293527"/>
            <a:ext cx="1832017" cy="32197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with scale factor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2318" y="2293527"/>
            <a:ext cx="144525" cy="32197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7156" y="2735610"/>
            <a:ext cx="854815" cy="321975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939" b="0" i="0">
                <a:solidFill>
                  <a:srgbClr val="191919"/>
                </a:solidFill>
                <a:latin typeface="Arial"/>
              </a:rPr>
              <a:t> pieces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820" y="5688634"/>
            <a:ext cx="1365441" cy="2728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9B4632"/>
                </a:solidFill>
                <a:latin typeface="Arial"/>
              </a:rPr>
              <a:t>Original 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789" y="4403516"/>
            <a:ext cx="629640" cy="29739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39" b="1" i="0">
                <a:solidFill>
                  <a:srgbClr val="7E8C57"/>
                </a:solidFill>
                <a:latin typeface="Arial"/>
              </a:rPr>
              <a:t>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0941" y="5688634"/>
            <a:ext cx="2349332" cy="27282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50" b="1" i="0">
                <a:solidFill>
                  <a:srgbClr val="9B4632"/>
                </a:solidFill>
                <a:latin typeface="Arial"/>
              </a:rPr>
              <a:t>8 separated small cubes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4766" y="6358632"/>
            <a:ext cx="5382599" cy="27283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50" b="0" i="1">
                <a:solidFill>
                  <a:srgbClr val="191919"/>
                </a:solidFill>
                <a:latin typeface="Arial"/>
              </a:rPr>
              <a:t>Can we use this same rule to find the dimension of a</a:t>
            </a:r>
            <a:r>
              <a:rPr sz="1550" b="1" i="1">
                <a:solidFill>
                  <a:srgbClr val="9B4632"/>
                </a:solidFill>
                <a:latin typeface="Arial"/>
              </a:rPr>
              <a:t> fractal</a:t>
            </a:r>
            <a:r>
              <a:rPr sz="1550" b="0" i="1">
                <a:solidFill>
                  <a:srgbClr val="191919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15 / 29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468639"/>
            <a:ext cx="2622572" cy="1966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564" y="2462214"/>
            <a:ext cx="395673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Let’s apply the self-similarity rule to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736" y="2779829"/>
            <a:ext cx="2145154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Sierpinski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3529004"/>
            <a:ext cx="75319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4083001"/>
            <a:ext cx="321827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Scale the Sierpinski Triangle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6851" y="4083001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7443" y="4595272"/>
            <a:ext cx="90165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7E8C57"/>
                </a:solidFill>
                <a:latin typeface="Arial"/>
              </a:rPr>
              <a:t>scale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29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13" y="2395558"/>
            <a:ext cx="1233867" cy="925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07" y="3488549"/>
            <a:ext cx="1233867" cy="925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44" y="3488549"/>
            <a:ext cx="1233867" cy="925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643727"/>
            <a:ext cx="312698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2 — Self-Similar Pieces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3175270"/>
            <a:ext cx="3533722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We get exactly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3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self-similar copies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9654" y="3492860"/>
            <a:ext cx="229813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of the original triangle.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9654" y="3953342"/>
            <a:ext cx="353372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Each smaller triangle is a perfect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9654" y="4270957"/>
            <a:ext cx="181614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replica, scaled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5629" y="4270957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4563" y="4578695"/>
            <a:ext cx="1523110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3 copies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88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29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13" y="2395558"/>
            <a:ext cx="1233867" cy="925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707" y="3488549"/>
            <a:ext cx="1233867" cy="925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144" y="3488549"/>
            <a:ext cx="1233867" cy="925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654" y="2462301"/>
            <a:ext cx="253720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3 — The Equation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9654" y="3059570"/>
            <a:ext cx="653772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Using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2945" y="3059570"/>
            <a:ext cx="139018" cy="30216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4563" y="4578695"/>
            <a:ext cx="1523110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3 copies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62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29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011" y="2423476"/>
            <a:ext cx="2159509" cy="16196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163472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Dimension of the Sierpinski Triangle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670469"/>
            <a:ext cx="228163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Step 4 — Solving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3569" y="4257362"/>
            <a:ext cx="1458210" cy="62856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350" b="1" i="0">
                <a:solidFill>
                  <a:srgbClr val="9B4632"/>
                </a:solidFill>
                <a:latin typeface="Arial"/>
              </a:rPr>
              <a:t>1.585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5205430"/>
            <a:ext cx="394633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Not an integer!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— strictly between 1D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5523020"/>
            <a:ext cx="23901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(line) and 2D (surface).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6" y="6628562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16 / 29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1825661"/>
            <a:ext cx="2622572" cy="92609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5089" y="4312096"/>
            <a:ext cx="678384" cy="23955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214" y="3864130"/>
            <a:ext cx="546654" cy="70727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4107" y="3863655"/>
            <a:ext cx="546653" cy="70727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8228" y="4312096"/>
            <a:ext cx="678384" cy="23955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3068" y="127907"/>
            <a:ext cx="373927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Similarly: The Koch Curve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564" y="2262395"/>
            <a:ext cx="392283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Koch Curve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can be divided into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736" y="2580010"/>
            <a:ext cx="350095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self-similar pieces, each scaled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511" y="2580010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9654" y="3329184"/>
            <a:ext cx="702806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7183" y="3883156"/>
            <a:ext cx="152781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Scale factor: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183" y="4301199"/>
            <a:ext cx="217679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Self-similar pieces: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4563" y="5137816"/>
            <a:ext cx="1523110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9B4632"/>
                </a:solidFill>
                <a:latin typeface="Arial"/>
              </a:rPr>
              <a:t>4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63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63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76" y="6628563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17 / 29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535" y="2636013"/>
            <a:ext cx="2622572" cy="926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373927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Similarly: The Koch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9654" y="1384202"/>
            <a:ext cx="185117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FFFFFF"/>
                </a:solidFill>
                <a:latin typeface="Arial"/>
              </a:rPr>
              <a:t>Koch Dimension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3544" y="4142365"/>
            <a:ext cx="1458210" cy="628562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350" b="1" i="0">
                <a:solidFill>
                  <a:srgbClr val="9B4632"/>
                </a:solidFill>
                <a:latin typeface="Arial"/>
              </a:rPr>
              <a:t>1.262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736" y="5161854"/>
            <a:ext cx="413072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Also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between a line (1D)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736" y="5479469"/>
            <a:ext cx="39079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 a surface (2D), but closer to a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736" y="5797059"/>
            <a:ext cx="285649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than the Sierpinski Triangle.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80" y="662856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8899" y="662856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951" y="6628562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17 / 29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667534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General Theory: Box-Counting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76540"/>
            <a:ext cx="6317390" cy="265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Self-Similarity Dimension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works beautifully for self-similar fractals. But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035697"/>
            <a:ext cx="292981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what about more complex shapes?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863" y="1646986"/>
            <a:ext cx="2284124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Box-Counting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863" y="2079218"/>
            <a:ext cx="183774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2623" y="2079218"/>
            <a:ext cx="1162554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defined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863" y="3016550"/>
            <a:ext cx="576417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088" y="3016550"/>
            <a:ext cx="3152729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the number of boxes of side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6652" y="3016550"/>
            <a:ext cx="1410727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needed to 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63" y="3275708"/>
            <a:ext cx="93521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18 / 29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667534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The General Theory: Box-Counting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76540"/>
            <a:ext cx="6317390" cy="265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Self-Similarity Dimension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works beautifully for self-similar fractals. But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62" y="1035697"/>
            <a:ext cx="292981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what about more complex shapes?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6863" y="1646986"/>
            <a:ext cx="2284124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Box-Counting 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863" y="2079218"/>
            <a:ext cx="183774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22623" y="2079218"/>
            <a:ext cx="1162554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defined as: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863" y="3016550"/>
            <a:ext cx="576417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8088" y="3016550"/>
            <a:ext cx="3152729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is the number of boxes of side length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6652" y="3016550"/>
            <a:ext cx="1410727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needed to 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63" y="3275708"/>
            <a:ext cx="93521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000000"/>
                </a:solidFill>
                <a:latin typeface="Arial"/>
              </a:rPr>
              <a:t>the fractal.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862" y="4040398"/>
            <a:ext cx="803386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Intuition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9631" y="4432450"/>
            <a:ext cx="3799342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Cover the fractal with a grid of boxes of size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9631" y="4732570"/>
            <a:ext cx="2154138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Count how many boxes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5748" y="4732570"/>
            <a:ext cx="1630321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the fractal touches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9631" y="5032690"/>
            <a:ext cx="765773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Shrink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7815" y="5032690"/>
            <a:ext cx="1531495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and observe 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1289" y="5032690"/>
            <a:ext cx="615505" cy="26057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191919"/>
                </a:solidFill>
                <a:latin typeface="Arial"/>
              </a:rPr>
              <a:t> grows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9631" y="5332810"/>
            <a:ext cx="3659952" cy="26580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5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45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450" b="1" i="0">
                <a:solidFill>
                  <a:srgbClr val="9B4632"/>
                </a:solidFill>
                <a:latin typeface="Arial"/>
              </a:rPr>
              <a:t> rate of growth</a:t>
            </a:r>
            <a:r>
              <a:rPr sz="1450" b="0" i="0">
                <a:solidFill>
                  <a:srgbClr val="191919"/>
                </a:solidFill>
                <a:latin typeface="Arial"/>
              </a:rPr>
              <a:t> tells us the dimension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895" y="6184846"/>
            <a:ext cx="5418216" cy="24009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90" b="0" i="0">
                <a:solidFill>
                  <a:srgbClr val="6B6257"/>
                </a:solidFill>
                <a:latin typeface="Arial"/>
              </a:rPr>
              <a:t>For a deeper dive, see</a:t>
            </a:r>
            <a:r>
              <a:rPr sz="1290" b="0" i="0">
                <a:solidFill>
                  <a:srgbClr val="7E8C57"/>
                </a:solidFill>
                <a:latin typeface="Arial"/>
              </a:rPr>
              <a:t> 3Blue1Brown: Fractals are typically not self-similar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18 / 29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19 / 29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3052" y="3847343"/>
            <a:ext cx="5917901" cy="30899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now know </a:t>
            </a:r>
            <a:r>
              <a:rPr sz="1780" b="0" i="1">
                <a:solidFill>
                  <a:srgbClr val="191919"/>
                </a:solidFill>
                <a:latin typeface="Arial"/>
              </a:rPr>
              <a:t>what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fractals are and how to measure their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9023" y="4164958"/>
            <a:ext cx="11859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complexity.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781" y="4583001"/>
            <a:ext cx="591089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But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where do we see them</a:t>
            </a:r>
            <a:r>
              <a:rPr sz="1780" b="0" i="0">
                <a:solidFill>
                  <a:srgbClr val="191919"/>
                </a:solidFill>
                <a:latin typeface="Arial"/>
              </a:rPr>
              <a:t>? And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how are they used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781" y="4900590"/>
            <a:ext cx="19826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computer science?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19 / 29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31192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Handoff to Speaker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262" y="790901"/>
            <a:ext cx="565126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We’ve now uncovered a remarkable property of fractals: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92" y="1334473"/>
            <a:ext cx="7489276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They have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non-integer dimensions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genuinely “between” the familiar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8428" y="1652063"/>
            <a:ext cx="125665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1D, 2D, 3D.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792" y="2019905"/>
            <a:ext cx="441476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Sierpinski Triangle lives in 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1916" y="2019905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792" y="2387721"/>
            <a:ext cx="37504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Koch Curve lives in 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7573" y="2387721"/>
            <a:ext cx="13901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792" y="2755538"/>
            <a:ext cx="6392206" cy="30899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box-counting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generalises this to</a:t>
            </a:r>
            <a:r>
              <a:rPr sz="1780" b="0" i="1">
                <a:solidFill>
                  <a:srgbClr val="191919"/>
                </a:solidFill>
                <a:latin typeface="Arial"/>
              </a:rPr>
              <a:t> any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shape.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3052" y="3847343"/>
            <a:ext cx="5917901" cy="308991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We now know </a:t>
            </a:r>
            <a:r>
              <a:rPr sz="1780" b="0" i="1">
                <a:solidFill>
                  <a:srgbClr val="191919"/>
                </a:solidFill>
                <a:latin typeface="Arial"/>
              </a:rPr>
              <a:t>what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fractals are and how to measure their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9023" y="4164958"/>
            <a:ext cx="11859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complexity.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7781" y="4583001"/>
            <a:ext cx="591089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But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where do we see them</a:t>
            </a:r>
            <a:r>
              <a:rPr sz="1780" b="0" i="0">
                <a:solidFill>
                  <a:srgbClr val="191919"/>
                </a:solidFill>
                <a:latin typeface="Arial"/>
              </a:rPr>
              <a:t>? And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how are they used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7781" y="4900590"/>
            <a:ext cx="198268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computer science?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61" y="5840481"/>
            <a:ext cx="702400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That’s exactly where Speaker 3 takes us — fractals in nature, art, 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61" y="6158096"/>
            <a:ext cx="137099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computation.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49" y="6628588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19 / 29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72076" y="2910201"/>
            <a:ext cx="4498274" cy="43774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850" b="1" i="0">
                <a:solidFill>
                  <a:srgbClr val="191919"/>
                </a:solidFill>
                <a:latin typeface="Arial"/>
              </a:rPr>
              <a:t>Fractals in the Real World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1382" y="1356374"/>
            <a:ext cx="6919389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1">
                <a:solidFill>
                  <a:srgbClr val="7A5C4B"/>
                </a:solidFill>
                <a:latin typeface="Arial"/>
              </a:rPr>
              <a:t>We know what a fractal is, and how to measure it...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5741" y="3333320"/>
            <a:ext cx="6052519" cy="7289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Fractals in the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20634" y="3841484"/>
            <a:ext cx="1902715" cy="728993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5140" b="1" i="0">
                <a:solidFill>
                  <a:srgbClr val="9B4632"/>
                </a:solidFill>
                <a:latin typeface="Arial"/>
              </a:rPr>
              <a:t>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4044" y="4993636"/>
            <a:ext cx="417592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6B6257"/>
                </a:solidFill>
                <a:latin typeface="Arial"/>
              </a:rPr>
              <a:t>Where does all of this actually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show up</a:t>
            </a:r>
            <a:r>
              <a:rPr sz="1780" b="0" i="0">
                <a:solidFill>
                  <a:srgbClr val="6B6257"/>
                </a:solidFill>
                <a:latin typeface="Arial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20 / 29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10" y="-49546323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3963" y="-47162931"/>
            <a:ext cx="2198735" cy="21855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58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9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9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92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29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83963" y="-47162931"/>
            <a:ext cx="2198735" cy="2185528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58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92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92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92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29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68610" y="-47163061"/>
            <a:ext cx="2198840" cy="21856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29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881" y="3240665"/>
            <a:ext cx="2198840" cy="2185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29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235" y="857401"/>
            <a:ext cx="2198840" cy="21823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881" y="857402"/>
            <a:ext cx="2198840" cy="218235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237" y="3240793"/>
            <a:ext cx="2198733" cy="2185527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4881" y="3240665"/>
            <a:ext cx="2198840" cy="21856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3068" y="127907"/>
            <a:ext cx="546325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Nature draws with one rule, repeated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451" y="5947289"/>
            <a:ext cx="644259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Broccoli, ice, leaves, cones —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same shape at every zoom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51" y="6628589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21 / 29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79880" y="-49062177"/>
            <a:ext cx="2391641" cy="188341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41644" y="-49062177"/>
            <a:ext cx="2391641" cy="1883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70" y="5711256"/>
            <a:ext cx="4320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92" y="5711256"/>
            <a:ext cx="12505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92" y="662859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11" y="662859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8" y="662859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29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41638" y="-49062177"/>
            <a:ext cx="2391641" cy="18834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63" y="5711256"/>
            <a:ext cx="4320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86" y="5711256"/>
            <a:ext cx="12505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6" y="662859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5" y="662859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2" y="662859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29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29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6931" y="3620986"/>
            <a:ext cx="773015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Stand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right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on each square’s top edge and grow a new square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1" y="3967457"/>
            <a:ext cx="152058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each leg — 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5927" y="3967457"/>
            <a:ext cx="247258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sits at every single joint.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29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341547"/>
            <a:ext cx="2391641" cy="188341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6152" y="1341548"/>
            <a:ext cx="2391641" cy="1883417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7911" y="1341548"/>
            <a:ext cx="2391641" cy="18834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533822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A tree built from nothing but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6931" y="3620986"/>
            <a:ext cx="773015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Stand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right triangle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on each square’s top edge and grow a new square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1" y="3967457"/>
            <a:ext cx="152058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each leg — 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5927" y="3967457"/>
            <a:ext cx="247258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sits at every single joint.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451" y="4721589"/>
            <a:ext cx="730714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Nobody designed a single branch.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One rule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, repeated twelve times, 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451" y="5039179"/>
            <a:ext cx="159492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 tree appears.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10357" y="5711256"/>
            <a:ext cx="4320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Pythagorean tree, after A. E. Bosman (1942), drawn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8579" y="5711256"/>
            <a:ext cx="12505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0" y="662859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9" y="662859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6" y="662859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22 / 29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29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29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29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2489" y="3228721"/>
            <a:ext cx="284339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tree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leans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, the way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7100" y="3546336"/>
            <a:ext cx="266013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real one grows toward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7100" y="3863926"/>
            <a:ext cx="49062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29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44" y="1722267"/>
            <a:ext cx="4397742" cy="36331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5217704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Tilt the rule and it starts to look alive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2489" y="1439815"/>
            <a:ext cx="49107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93937" y="1439815"/>
            <a:ext cx="17924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two branches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17100" y="1757430"/>
            <a:ext cx="217950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match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exactly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too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7100" y="2075045"/>
            <a:ext cx="176959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perfect to be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2489" y="2493087"/>
            <a:ext cx="2073521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Tilt that triangle 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76367" y="2493087"/>
            <a:ext cx="45311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17099" y="2810676"/>
            <a:ext cx="19637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they stop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2489" y="3228721"/>
            <a:ext cx="2843391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The tree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leans</a:t>
            </a:r>
            <a:r>
              <a:rPr sz="1780" b="0" i="0">
                <a:solidFill>
                  <a:srgbClr val="191919"/>
                </a:solidFill>
                <a:latin typeface="Arial"/>
              </a:rPr>
              <a:t>, the way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7100" y="3546336"/>
            <a:ext cx="266013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real one grows toward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7100" y="3863926"/>
            <a:ext cx="49062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light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7121" y="4766820"/>
            <a:ext cx="275526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One number changed </a:t>
            </a:r>
            <a:r>
              <a:rPr sz="1780" b="0" i="0">
                <a:solidFill>
                  <a:srgbClr val="000000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7121" y="5084435"/>
            <a:ext cx="275526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and a diagram turns into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7121" y="5402025"/>
            <a:ext cx="628915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plant.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9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51" y="6628585"/>
            <a:ext cx="432220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23 / 29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4366" y="-49351669"/>
            <a:ext cx="2410881" cy="192870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1974" y="-49351466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44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2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48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25" y="6000840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61974" y="-49351466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44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2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48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25" y="6000840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0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9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6" y="6628586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032" y="6000840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6" y="6628586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905" y="6628586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82" y="6628586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032" y="6000837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6" y="6628583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905" y="6628583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82" y="6628583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796" y="4338166"/>
            <a:ext cx="704547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Doctors track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 retinal vessels to spot disease early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6025" y="6000837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" y="6628583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899" y="6628583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976" y="6628583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52069"/>
            <a:ext cx="2319529" cy="19286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0642" y="1052057"/>
            <a:ext cx="2410880" cy="192870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249" y="1052259"/>
            <a:ext cx="1971294" cy="19285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755269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Branching packs a huge surface into a small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9350" y="3359796"/>
            <a:ext cx="2989088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airways and blood vessels of the 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6848" y="3359796"/>
            <a:ext cx="1621397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vessels in the retina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6655" y="3359796"/>
            <a:ext cx="2337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vessels, zoomed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796" y="3945224"/>
            <a:ext cx="257449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Lungs: about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0569" y="3951633"/>
            <a:ext cx="5911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70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914" y="3945224"/>
            <a:ext cx="251280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of surface packed inside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2884" y="3945224"/>
            <a:ext cx="739412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5 litres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796" y="4338166"/>
            <a:ext cx="7045478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Doctors track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dimension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 retinal vessels to spot disease early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451" y="5060440"/>
            <a:ext cx="7307147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Branching again and again is nature’s cheapest way to get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area out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451" y="5378055"/>
            <a:ext cx="925610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volume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6025" y="6000837"/>
            <a:ext cx="3111936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Lung branching figures: Weibel (1963).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" y="6628583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899" y="6628583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976" y="6628583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24 / 29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29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29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0871" y="2960272"/>
            <a:ext cx="39883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Those 28 numbers redraw the fern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482" y="3277862"/>
            <a:ext cx="362320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any resolution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zoom in, there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482" y="3595477"/>
            <a:ext cx="17578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always more leaf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29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145" y="1290570"/>
            <a:ext cx="2623154" cy="3888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7302025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Fractal compression: a whole plant in 28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00871" y="1488982"/>
            <a:ext cx="391244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Four rules, each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shrink-and-tilt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5482" y="1806596"/>
            <a:ext cx="371404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the whole picture, applied at random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0871" y="2224615"/>
            <a:ext cx="1552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1480" y="2224615"/>
            <a:ext cx="126478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434" y="2224615"/>
            <a:ext cx="153187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 4 probabilities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2480" y="2231024"/>
            <a:ext cx="390293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 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5482" y="2548639"/>
            <a:ext cx="1031588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0871" y="2960272"/>
            <a:ext cx="398836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780" b="0" i="0">
                <a:solidFill>
                  <a:srgbClr val="191919"/>
                </a:solidFill>
                <a:latin typeface="Arial"/>
              </a:rPr>
              <a:t>Those 28 numbers redraw the fern 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5482" y="3277862"/>
            <a:ext cx="3623203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1" i="0">
                <a:solidFill>
                  <a:srgbClr val="9B4632"/>
                </a:solidFill>
                <a:latin typeface="Arial"/>
              </a:rPr>
              <a:t>any resolution</a:t>
            </a:r>
            <a:r>
              <a:rPr sz="1780" b="0" i="0">
                <a:solidFill>
                  <a:srgbClr val="191919"/>
                </a:solidFill>
                <a:latin typeface="Arial"/>
              </a:rPr>
              <a:t> — zoom in, there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5482" y="3595477"/>
            <a:ext cx="17578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191919"/>
                </a:solidFill>
                <a:latin typeface="Arial"/>
              </a:rPr>
              <a:t>always more leaf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5502" y="4426926"/>
            <a:ext cx="4066779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Store the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rule</a:t>
            </a:r>
            <a:r>
              <a:rPr sz="1780" b="0" i="0">
                <a:solidFill>
                  <a:srgbClr val="000000"/>
                </a:solidFill>
                <a:latin typeface="Arial"/>
              </a:rPr>
              <a:t>, not the pixels — the idea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5502" y="4744541"/>
            <a:ext cx="3750199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behind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fractal image compression</a:t>
            </a:r>
            <a:r>
              <a:rPr sz="178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58" y="5280101"/>
            <a:ext cx="7457368" cy="2572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Barnsley fern: an iterated function system (Barnsley,</a:t>
            </a:r>
            <a:r>
              <a:rPr sz="1380" b="0" i="1">
                <a:solidFill>
                  <a:srgbClr val="6B6257"/>
                </a:solidFill>
                <a:latin typeface="Arial"/>
              </a:rPr>
              <a:t> Fractals Everywhere</a:t>
            </a:r>
            <a:r>
              <a:rPr sz="1380" b="0" i="0">
                <a:solidFill>
                  <a:srgbClr val="6B6257"/>
                </a:solidFill>
                <a:latin typeface="Arial"/>
              </a:rPr>
              <a:t>, 1988), plotted by the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258" y="5626597"/>
            <a:ext cx="1081492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chaos game.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74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893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970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25 / 29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41271" y="-49328932"/>
            <a:ext cx="2468870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64428" y="-49328932"/>
            <a:ext cx="2468870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73" y="5632621"/>
            <a:ext cx="779147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66" y="5979092"/>
            <a:ext cx="70925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9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8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85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29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64422" y="-49328932"/>
            <a:ext cx="2468870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7" y="5632621"/>
            <a:ext cx="779147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60" y="5979092"/>
            <a:ext cx="70925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3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902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9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29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692" y="1074794"/>
            <a:ext cx="2468868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261" y="5632621"/>
            <a:ext cx="779147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17354" y="5979092"/>
            <a:ext cx="70925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7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6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3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29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62" y="1074795"/>
            <a:ext cx="2468868" cy="2751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2" y="1074794"/>
            <a:ext cx="2468868" cy="2751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0692" y="1074794"/>
            <a:ext cx="2468868" cy="27510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068" y="127907"/>
            <a:ext cx="682659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Game worlds are grown from a rule, not stored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448" y="4325364"/>
            <a:ext cx="7307149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Add </a:t>
            </a:r>
            <a:r>
              <a:rPr sz="1780" b="1" i="0">
                <a:solidFill>
                  <a:srgbClr val="9B4632"/>
                </a:solidFill>
                <a:latin typeface="Arial"/>
              </a:rPr>
              <a:t>smaller bumps at every scale </a:t>
            </a:r>
            <a:r>
              <a:rPr sz="1780" b="0" i="0">
                <a:solidFill>
                  <a:srgbClr val="000000"/>
                </a:solidFill>
                <a:latin typeface="Arial"/>
              </a:rPr>
              <a:t>— the Koch idea — and a handful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448" y="4642954"/>
            <a:ext cx="7307147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of numbers becomes an endless mountain range. Store the rule, not 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448" y="4960569"/>
            <a:ext cx="578524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61" y="5632621"/>
            <a:ext cx="7791470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Terrain generated here by summing 7 layers of noise, each half the size of the last (fractal Brownian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17354" y="5979092"/>
            <a:ext cx="70925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motion).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77" y="6628585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8896" y="6628585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973" y="6628585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26 / 29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715" y="813108"/>
            <a:ext cx="6326511" cy="40088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610650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Keep stacking layers and you get a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58" y="6239729"/>
            <a:ext cx="581023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15 layers of noise, rounded into blocks and drawn isometrically.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77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8896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973" y="6628589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27 / 29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715" y="813108"/>
            <a:ext cx="6326511" cy="40088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068" y="127907"/>
            <a:ext cx="610650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Keep stacking layers and you get a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8448" y="5250062"/>
            <a:ext cx="7307150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Round the same heights off to whole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blocks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and you get a sandbox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8448" y="5567677"/>
            <a:ext cx="5737580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— grass, beaches, lakes, a snow peak. Still just the rule.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6858" y="6239729"/>
            <a:ext cx="5810233" cy="251950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380" b="0" i="0">
                <a:solidFill>
                  <a:srgbClr val="6B6257"/>
                </a:solidFill>
                <a:latin typeface="Arial"/>
              </a:rPr>
              <a:t>The same 15 layers of noise, rounded into blocks and drawn isometrically.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77" y="6628589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8896" y="6628589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973" y="6628589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27 / 29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877" y="6628590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78896" y="6628590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6973" y="6628590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29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29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29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429" y="3504370"/>
            <a:ext cx="746351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Only the mathematical ones — Sierpinski, Koch — 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27" y="3908577"/>
            <a:ext cx="150431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on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29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5292423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One honest catch: real fractals 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7429" y="1884948"/>
            <a:ext cx="7474363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fern looks like a fern ... until you reach a single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cell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7429" y="2424764"/>
            <a:ext cx="599714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Lungs stop branching after about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23 splits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429" y="2964554"/>
            <a:ext cx="4353909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A tree runs out at the last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twig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429" y="3504370"/>
            <a:ext cx="7463517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2370" b="0" i="0">
                <a:solidFill>
                  <a:srgbClr val="191919"/>
                </a:solidFill>
                <a:latin typeface="Arial"/>
              </a:rPr>
              <a:t>Only the mathematical ones — Sierpinski, Koch — 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27" y="3908577"/>
            <a:ext cx="1504312" cy="38603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0" i="0">
                <a:solidFill>
                  <a:srgbClr val="191919"/>
                </a:solidFill>
                <a:latin typeface="Arial"/>
              </a:rPr>
              <a:t>on</a:t>
            </a:r>
            <a:r>
              <a:rPr sz="2370" b="1" i="0">
                <a:solidFill>
                  <a:srgbClr val="9B4632"/>
                </a:solidFill>
                <a:latin typeface="Arial"/>
              </a:rPr>
              <a:t> forever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448" y="5012607"/>
            <a:ext cx="7307149" cy="30857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A fractal is a</a:t>
            </a:r>
            <a:r>
              <a:rPr sz="1780" b="1" i="0">
                <a:solidFill>
                  <a:srgbClr val="9B4632"/>
                </a:solidFill>
                <a:latin typeface="Arial"/>
              </a:rPr>
              <a:t> model</a:t>
            </a:r>
            <a:r>
              <a:rPr sz="1780" b="0" i="0">
                <a:solidFill>
                  <a:srgbClr val="000000"/>
                </a:solidFill>
                <a:latin typeface="Arial"/>
              </a:rPr>
              <a:t> of nature — and every good model knows the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448" y="5330197"/>
            <a:ext cx="1578429" cy="302167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780" b="0" i="0">
                <a:solidFill>
                  <a:srgbClr val="000000"/>
                </a:solidFill>
                <a:latin typeface="Arial"/>
              </a:rPr>
              <a:t>where it works.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77" y="6628584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896" y="6628584"/>
            <a:ext cx="517585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973" y="6628584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28 / 29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799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3068" y="127907"/>
            <a:ext cx="1700150" cy="377489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2370" b="1" i="0">
                <a:solidFill>
                  <a:srgbClr val="F8F6F2"/>
                </a:solidFill>
                <a:latin typeface="Century Gothic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2587" y="1832759"/>
            <a:ext cx="7102036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B. Mandelbrot, “How long is the coast of Britain? Statistical self-similarity 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8428" y="2107053"/>
            <a:ext cx="3358433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fractional dimension,”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Science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1967.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2587" y="2481775"/>
            <a:ext cx="5060510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B. Mandelbrot,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The Fractal Geometry of Nature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1982.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2587" y="2856496"/>
            <a:ext cx="5905924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E. R. Weibel,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Morphometry of the Human Lung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Springer, 1963.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587" y="3231218"/>
            <a:ext cx="7110475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M. F. Barnsley,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Fractals Everywhere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Academic Press, 1988 (iterated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8428" y="3505537"/>
            <a:ext cx="1718220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systems, the fern).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587" y="3880258"/>
            <a:ext cx="7336441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A. E. Bosman,</a:t>
            </a:r>
            <a:r>
              <a:rPr sz="1580" b="0" i="1">
                <a:solidFill>
                  <a:srgbClr val="191919"/>
                </a:solidFill>
                <a:latin typeface="Arial"/>
              </a:rPr>
              <a:t> Het wondere onderzoekingsveld van de vlakke meetkunde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8428" y="4154552"/>
            <a:ext cx="2958724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191919"/>
                </a:solidFill>
                <a:latin typeface="Arial"/>
              </a:rPr>
              <a:t>(Pythagorean tree, drawn 1942).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587" y="4529274"/>
            <a:ext cx="7403527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A. Fournier, D. Fussell, L. Carpenter, “Computer rendering of stochastic models,”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8428" y="4803568"/>
            <a:ext cx="3188305" cy="28312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1">
                <a:solidFill>
                  <a:srgbClr val="191919"/>
                </a:solidFill>
                <a:latin typeface="Arial"/>
              </a:rPr>
              <a:t>Comm. ACM</a:t>
            </a:r>
            <a:r>
              <a:rPr sz="1580" b="0" i="0">
                <a:solidFill>
                  <a:srgbClr val="191919"/>
                </a:solidFill>
                <a:latin typeface="Arial"/>
              </a:rPr>
              <a:t>, 1982 (fractal terrain).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587" y="5178289"/>
            <a:ext cx="5602226" cy="277058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580" b="0" i="0">
                <a:solidFill>
                  <a:srgbClr val="9B4632"/>
                </a:solidFill>
                <a:latin typeface="Arial"/>
              </a:rPr>
              <a:t>• </a:t>
            </a:r>
            <a:r>
              <a:rPr sz="1580" b="0" i="0">
                <a:solidFill>
                  <a:srgbClr val="191919"/>
                </a:solidFill>
                <a:latin typeface="Arial"/>
              </a:rPr>
              <a:t>3Blue1Brown, “Fractals are typically not self-similar” (video).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78" y="6628588"/>
            <a:ext cx="1208287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Aditya, Sami, Pritom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897" y="6628588"/>
            <a:ext cx="517586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Fractals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975" y="6628588"/>
            <a:ext cx="432094" cy="201736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90" b="0" i="0">
                <a:solidFill>
                  <a:srgbClr val="8B8A88"/>
                </a:solidFill>
                <a:latin typeface="Arial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