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8" r:id="rId88"/>
    <p:sldId id="349" r:id="rId89"/>
    <p:sldId id="350" r:id="rId90"/>
    <p:sldId id="351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2" r:id="rId102"/>
    <p:sldId id="363" r:id="rId103"/>
    <p:sldId id="364" r:id="rId104"/>
    <p:sldId id="365" r:id="rId105"/>
    <p:sldId id="366" r:id="rId106"/>
    <p:sldId id="367" r:id="rId107"/>
    <p:sldId id="368" r:id="rId108"/>
    <p:sldId id="369" r:id="rId10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485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86249" y="1826066"/>
            <a:ext cx="1681461" cy="51005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3420" b="1" i="0">
                <a:solidFill>
                  <a:srgbClr val="F8F6F2"/>
                </a:solidFill>
                <a:latin typeface="Century Gothic"/>
              </a:rPr>
              <a:t>Fractals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71839" y="2512141"/>
            <a:ext cx="339588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9F7F4"/>
                </a:solidFill>
                <a:latin typeface="Arial"/>
              </a:rPr>
              <a:t>Infinite Details from Simple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3727" y="3281670"/>
            <a:ext cx="289401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Aditya Tirtho Roy (2305178)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2443" y="3599285"/>
            <a:ext cx="314528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Farhan Ehsas Sami (2305177)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3122" y="3916900"/>
            <a:ext cx="25946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Pritom Biswas (2305160)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1352" y="4439128"/>
            <a:ext cx="4016351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9F8F5"/>
                </a:solidFill>
                <a:latin typeface="Arial"/>
              </a:rPr>
              <a:t>Department of Computer Science and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271" y="4670100"/>
            <a:ext cx="492041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9F8F5"/>
                </a:solidFill>
                <a:latin typeface="Arial"/>
              </a:rPr>
              <a:t>Bangladesh University of Engineering and Technology (BUET)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4394" y="5227483"/>
            <a:ext cx="181332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AF8F5"/>
                </a:solidFill>
                <a:latin typeface="Arial"/>
              </a:rPr>
              <a:t>CSE 200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1327150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History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431619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Crisis in 19th-Century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84169"/>
            <a:ext cx="624558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For centuries, calculus rested on an assumption that felt obvious: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899" y="1292784"/>
            <a:ext cx="1759560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1" i="0">
                <a:solidFill>
                  <a:srgbClr val="FFFFFF"/>
                </a:solidFill>
                <a:latin typeface="Arial"/>
              </a:rPr>
              <a:t>The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9899" y="1798244"/>
            <a:ext cx="6665677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Any continuous curve is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smooth almost everywhere </a:t>
            </a:r>
            <a:r>
              <a:rPr sz="1689" b="0" i="0">
                <a:solidFill>
                  <a:srgbClr val="000000"/>
                </a:solidFill>
                <a:latin typeface="Arial"/>
              </a:rPr>
              <a:t>— zoom in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9899" y="2100249"/>
            <a:ext cx="6665677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enough on any point, and the curve should straighten out into a well-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899" y="2402279"/>
            <a:ext cx="201139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defined tangent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431619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Crisis in 19th-Century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84169"/>
            <a:ext cx="624558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For centuries, calculus rested on an assumption that felt obvious: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899" y="1292784"/>
            <a:ext cx="1759560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1" i="0">
                <a:solidFill>
                  <a:srgbClr val="FFFFFF"/>
                </a:solidFill>
                <a:latin typeface="Arial"/>
              </a:rPr>
              <a:t>The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9899" y="1798244"/>
            <a:ext cx="6665677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Any continuous curve is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smooth almost everywhere </a:t>
            </a:r>
            <a:r>
              <a:rPr sz="1689" b="0" i="0">
                <a:solidFill>
                  <a:srgbClr val="000000"/>
                </a:solidFill>
                <a:latin typeface="Arial"/>
              </a:rPr>
              <a:t>— zoom in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9899" y="2100249"/>
            <a:ext cx="6665677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enough on any point, and the curve should straighten out into a well-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899" y="2402279"/>
            <a:ext cx="201139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defined tangent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253106"/>
            <a:ext cx="7381870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This wasn’t just intuition — it was treated as close to self-evident.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555135"/>
            <a:ext cx="7215122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was assumed to imply</a:t>
            </a:r>
            <a:r>
              <a:rPr sz="1689" b="1" i="0">
                <a:solidFill>
                  <a:srgbClr val="9B4632"/>
                </a:solidFill>
                <a:latin typeface="Arial"/>
              </a:rPr>
              <a:t> differentiability</a:t>
            </a:r>
            <a:r>
              <a:rPr sz="1689" b="0" i="0">
                <a:solidFill>
                  <a:srgbClr val="191919"/>
                </a:solidFill>
                <a:latin typeface="Arial"/>
              </a:rPr>
              <a:t>, almost everywhere, almost always.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431619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Crisis in 19th-Century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84169"/>
            <a:ext cx="624558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For centuries, calculus rested on an assumption that felt obvious: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899" y="1292784"/>
            <a:ext cx="1759560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1" i="0">
                <a:solidFill>
                  <a:srgbClr val="FFFFFF"/>
                </a:solidFill>
                <a:latin typeface="Arial"/>
              </a:rPr>
              <a:t>The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9899" y="1798244"/>
            <a:ext cx="6665677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Any continuous curve is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smooth almost everywhere </a:t>
            </a:r>
            <a:r>
              <a:rPr sz="1689" b="0" i="0">
                <a:solidFill>
                  <a:srgbClr val="000000"/>
                </a:solidFill>
                <a:latin typeface="Arial"/>
              </a:rPr>
              <a:t>— zoom in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9899" y="2100249"/>
            <a:ext cx="6665677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enough on any point, and the curve should straighten out into a well-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899" y="2402279"/>
            <a:ext cx="201139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defined tangent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253106"/>
            <a:ext cx="7381870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This wasn’t just intuition — it was treated as close to self-evident.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555135"/>
            <a:ext cx="7215122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was assumed to imply</a:t>
            </a:r>
            <a:r>
              <a:rPr sz="1689" b="1" i="0">
                <a:solidFill>
                  <a:srgbClr val="9B4632"/>
                </a:solidFill>
                <a:latin typeface="Arial"/>
              </a:rPr>
              <a:t> differentiability</a:t>
            </a:r>
            <a:r>
              <a:rPr sz="1689" b="0" i="0">
                <a:solidFill>
                  <a:srgbClr val="191919"/>
                </a:solidFill>
                <a:latin typeface="Arial"/>
              </a:rPr>
              <a:t>, almost everywhere, almost always.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3350" y="4499808"/>
            <a:ext cx="5414436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In 1872,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689" b="0" i="0">
                <a:solidFill>
                  <a:srgbClr val="191919"/>
                </a:solidFill>
                <a:latin typeface="Arial"/>
              </a:rPr>
              <a:t>broke this assumption —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3350" y="4801813"/>
            <a:ext cx="914442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purpose.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431619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Crisis in 19th-Century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84169"/>
            <a:ext cx="624558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For centuries, calculus rested on an assumption that felt obvious: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899" y="1292784"/>
            <a:ext cx="1759560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1" i="0">
                <a:solidFill>
                  <a:srgbClr val="FFFFFF"/>
                </a:solidFill>
                <a:latin typeface="Arial"/>
              </a:rPr>
              <a:t>The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9899" y="1798244"/>
            <a:ext cx="6665677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Any continuous curve is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smooth almost everywhere </a:t>
            </a:r>
            <a:r>
              <a:rPr sz="1689" b="0" i="0">
                <a:solidFill>
                  <a:srgbClr val="000000"/>
                </a:solidFill>
                <a:latin typeface="Arial"/>
              </a:rPr>
              <a:t>— zoom in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9899" y="2100249"/>
            <a:ext cx="6665677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enough on any point, and the curve should straighten out into a well-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899" y="2402279"/>
            <a:ext cx="2011399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000000"/>
                </a:solidFill>
                <a:latin typeface="Arial"/>
              </a:rPr>
              <a:t>defined tangent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253106"/>
            <a:ext cx="7381870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This wasn’t just intuition — it was treated as close to self-evident.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555135"/>
            <a:ext cx="7215122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was assumed to imply</a:t>
            </a:r>
            <a:r>
              <a:rPr sz="1689" b="1" i="0">
                <a:solidFill>
                  <a:srgbClr val="9B4632"/>
                </a:solidFill>
                <a:latin typeface="Arial"/>
              </a:rPr>
              <a:t> differentiability</a:t>
            </a:r>
            <a:r>
              <a:rPr sz="1689" b="0" i="0">
                <a:solidFill>
                  <a:srgbClr val="191919"/>
                </a:solidFill>
                <a:latin typeface="Arial"/>
              </a:rPr>
              <a:t>, almost everywhere, almost always.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3350" y="4499808"/>
            <a:ext cx="5414436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In 1872, </a:t>
            </a:r>
            <a:r>
              <a:rPr sz="1689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689" b="0" i="0">
                <a:solidFill>
                  <a:srgbClr val="191919"/>
                </a:solidFill>
                <a:latin typeface="Arial"/>
              </a:rPr>
              <a:t>broke this assumption —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3350" y="4801813"/>
            <a:ext cx="914442" cy="2910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purpose.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61" y="5729567"/>
            <a:ext cx="7401636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He constructed a function that is</a:t>
            </a:r>
            <a:r>
              <a:rPr sz="1689" b="1" i="0">
                <a:solidFill>
                  <a:srgbClr val="9B4632"/>
                </a:solidFill>
                <a:latin typeface="Arial"/>
              </a:rPr>
              <a:t> continuous everywhere</a:t>
            </a:r>
            <a:r>
              <a:rPr sz="1689" b="0" i="0">
                <a:solidFill>
                  <a:srgbClr val="191919"/>
                </a:solidFill>
                <a:latin typeface="Arial"/>
              </a:rPr>
              <a:t>, yet</a:t>
            </a:r>
            <a:r>
              <a:rPr sz="1689" b="1" i="0">
                <a:solidFill>
                  <a:srgbClr val="9B4632"/>
                </a:solidFill>
                <a:latin typeface="Arial"/>
              </a:rPr>
              <a:t> differentiable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61" y="6031572"/>
            <a:ext cx="6608519" cy="29717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1" i="0">
                <a:solidFill>
                  <a:srgbClr val="9B4632"/>
                </a:solidFill>
                <a:latin typeface="Arial"/>
              </a:rPr>
              <a:t>nowhere</a:t>
            </a:r>
            <a:r>
              <a:rPr sz="1689" b="0" i="0">
                <a:solidFill>
                  <a:srgbClr val="191919"/>
                </a:solidFill>
                <a:latin typeface="Arial"/>
              </a:rPr>
              <a:t>: infinitely jagged, at every single scale, with no tangent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61" y="6333602"/>
            <a:ext cx="1574550" cy="2910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89" b="0" i="0">
                <a:solidFill>
                  <a:srgbClr val="191919"/>
                </a:solidFill>
                <a:latin typeface="Arial"/>
              </a:rPr>
              <a:t>anywhere at 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747" y="3116161"/>
            <a:ext cx="5850164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Helge von Koch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(1904) — a geometric, drawable curve that is nowhere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648" y="3364342"/>
            <a:ext cx="2066126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smooth: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747" y="3116161"/>
            <a:ext cx="5850164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Helge von Koch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(1904) — a geometric, drawable curve that is nowhere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648" y="3364342"/>
            <a:ext cx="2066126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smooth: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747" y="3651751"/>
            <a:ext cx="5764964" cy="2595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Wacław Sierpi´nski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self-similar shapes like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Sierpi´nski triangle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747" y="3116161"/>
            <a:ext cx="5850164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Helge von Koch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(1904) — a geometric, drawable curve that is nowhere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648" y="3364342"/>
            <a:ext cx="2066126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smooth: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747" y="3651751"/>
            <a:ext cx="5764964" cy="2595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Wacław Sierpi´nski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self-similar shapes like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Sierpi´nski triangle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747" y="3939158"/>
            <a:ext cx="567765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Felix Hausdorff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(1918) — gave these shapes a number: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fractional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648" y="4187340"/>
            <a:ext cx="4208432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1" i="0">
                <a:solidFill>
                  <a:srgbClr val="9B4632"/>
                </a:solidFill>
                <a:latin typeface="Arial"/>
              </a:rPr>
              <a:t>dimension</a:t>
            </a:r>
            <a:r>
              <a:rPr sz="1390" b="0" i="0">
                <a:solidFill>
                  <a:srgbClr val="191919"/>
                </a:solidFill>
                <a:latin typeface="Arial"/>
              </a:rPr>
              <a:t>, between the familiar integer dimensions.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747" y="3116161"/>
            <a:ext cx="5850164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Helge von Koch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(1904) — a geometric, drawable curve that is nowhere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648" y="3364342"/>
            <a:ext cx="2066126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smooth: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747" y="3651751"/>
            <a:ext cx="5764964" cy="2595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Wacław Sierpi´nski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self-similar shapes like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Sierpi´nski triangle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747" y="3939158"/>
            <a:ext cx="567765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Felix Hausdorff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(1918) — gave these shapes a number: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fractional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648" y="4187340"/>
            <a:ext cx="4208432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1" i="0">
                <a:solidFill>
                  <a:srgbClr val="9B4632"/>
                </a:solidFill>
                <a:latin typeface="Arial"/>
              </a:rPr>
              <a:t>dimension</a:t>
            </a:r>
            <a:r>
              <a:rPr sz="1390" b="0" i="0">
                <a:solidFill>
                  <a:srgbClr val="191919"/>
                </a:solidFill>
                <a:latin typeface="Arial"/>
              </a:rPr>
              <a:t>, between the familiar integer dimensions.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747" y="4474746"/>
            <a:ext cx="2654453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Gaston Julia &amp; Pierre Fatou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8078" y="4474746"/>
            <a:ext cx="2944730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1918) — studied iterated functions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648" y="4722927"/>
            <a:ext cx="5712442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the complex plane, without any way to actually see what they looked like.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7850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Mathematical ”Monsters”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05220"/>
            <a:ext cx="598170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Weierstrass’s function was treated as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pathological monster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proof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53401"/>
            <a:ext cx="60320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pictures and intuition could not be trusted, and that analysis needed rigorous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2" y="1201562"/>
            <a:ext cx="1141614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proof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1659486"/>
            <a:ext cx="606451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This set off a chain reaction. Mathematicians began deliberately constructing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1907648"/>
            <a:ext cx="5744931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stranger and stranger shapes, to probe exactly where classical geometry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2155829"/>
            <a:ext cx="1031788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broke down: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747" y="2580571"/>
            <a:ext cx="553657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Georg Cantor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(1883) — the Cantor set: an infinite set of points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648" y="2828752"/>
            <a:ext cx="1376273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zero total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747" y="3116161"/>
            <a:ext cx="5850164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Helge von Koch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(1904) — a geometric, drawable curve that is nowhere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648" y="3364342"/>
            <a:ext cx="2066126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smooth: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747" y="3651751"/>
            <a:ext cx="5764964" cy="2595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Wacław Sierpi´nski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— self-similar shapes like the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Sierpi´nski triangle</a:t>
            </a:r>
            <a:r>
              <a:rPr sz="139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747" y="3939158"/>
            <a:ext cx="5677658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Felix Hausdorff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(1918) — gave these shapes a number: a</a:t>
            </a:r>
            <a:r>
              <a:rPr sz="1390" b="1" i="0">
                <a:solidFill>
                  <a:srgbClr val="9B4632"/>
                </a:solidFill>
                <a:latin typeface="Arial"/>
              </a:rPr>
              <a:t> fractional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648" y="4187340"/>
            <a:ext cx="4208432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1" i="0">
                <a:solidFill>
                  <a:srgbClr val="9B4632"/>
                </a:solidFill>
                <a:latin typeface="Arial"/>
              </a:rPr>
              <a:t>dimension</a:t>
            </a:r>
            <a:r>
              <a:rPr sz="1390" b="0" i="0">
                <a:solidFill>
                  <a:srgbClr val="191919"/>
                </a:solidFill>
                <a:latin typeface="Arial"/>
              </a:rPr>
              <a:t>, between the familiar integer dimensions.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747" y="4474746"/>
            <a:ext cx="2654453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Gaston Julia &amp; Pierre Fatou</a:t>
            </a:r>
            <a:r>
              <a:rPr sz="1390" b="0" i="0">
                <a:solidFill>
                  <a:srgbClr val="191919"/>
                </a:solidFill>
                <a:latin typeface="Arial"/>
              </a:rPr>
              <a:t> (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8078" y="4474746"/>
            <a:ext cx="2944730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1918) — studied iterated functions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648" y="4722927"/>
            <a:ext cx="5712442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the complex plane, without any way to actually see what they looked like.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119" y="5521642"/>
            <a:ext cx="468869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For nearly a century, these were considered </a:t>
            </a:r>
            <a:r>
              <a:rPr sz="1390" b="1" i="0">
                <a:solidFill>
                  <a:srgbClr val="9B4632"/>
                </a:solidFill>
                <a:latin typeface="Arial"/>
              </a:rPr>
              <a:t>beautiful but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9119" y="5769824"/>
            <a:ext cx="4736547" cy="2577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1" i="0">
                <a:solidFill>
                  <a:srgbClr val="9B4632"/>
                </a:solidFill>
                <a:latin typeface="Arial"/>
              </a:rPr>
              <a:t>useless </a:t>
            </a:r>
            <a:r>
              <a:rPr sz="1390" b="0" i="0">
                <a:solidFill>
                  <a:srgbClr val="191919"/>
                </a:solidFill>
                <a:latin typeface="Arial"/>
              </a:rPr>
              <a:t>— curiosities built to stress-test the foundations 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119" y="6017985"/>
            <a:ext cx="3480440" cy="2527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90" b="0" i="0">
                <a:solidFill>
                  <a:srgbClr val="191919"/>
                </a:solidFill>
                <a:latin typeface="Arial"/>
              </a:rPr>
              <a:t>mathematics, not to describe anything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15690"/>
            <a:ext cx="6438382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77584"/>
            <a:ext cx="832364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2481" y="1623545"/>
            <a:ext cx="2913587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15690"/>
            <a:ext cx="6438382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77584"/>
            <a:ext cx="832364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2481" y="1623545"/>
            <a:ext cx="2913587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481344"/>
            <a:ext cx="6413783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The honest answer: </a:t>
            </a:r>
            <a:r>
              <a:rPr sz="1470" b="1" i="0">
                <a:solidFill>
                  <a:srgbClr val="9B4632"/>
                </a:solidFill>
                <a:latin typeface="Arial"/>
              </a:rPr>
              <a:t>it depends on your ruler</a:t>
            </a:r>
            <a:r>
              <a:rPr sz="1470" b="0" i="0">
                <a:solidFill>
                  <a:srgbClr val="191919"/>
                </a:solidFill>
                <a:latin typeface="Arial"/>
              </a:rPr>
              <a:t>. Measure with a 100 km ruler,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2743238"/>
            <a:ext cx="617899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get one length. Use a 1 km ruler, and the measured length grows — every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005153"/>
            <a:ext cx="629620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bay and inlet you’d smoothed over now counts. The length never converges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267068"/>
            <a:ext cx="1645922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to a single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15690"/>
            <a:ext cx="6438382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77584"/>
            <a:ext cx="832364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2481" y="1623545"/>
            <a:ext cx="2913587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481344"/>
            <a:ext cx="6413783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The honest answer: </a:t>
            </a:r>
            <a:r>
              <a:rPr sz="1470" b="1" i="0">
                <a:solidFill>
                  <a:srgbClr val="9B4632"/>
                </a:solidFill>
                <a:latin typeface="Arial"/>
              </a:rPr>
              <a:t>it depends on your ruler</a:t>
            </a:r>
            <a:r>
              <a:rPr sz="1470" b="0" i="0">
                <a:solidFill>
                  <a:srgbClr val="191919"/>
                </a:solidFill>
                <a:latin typeface="Arial"/>
              </a:rPr>
              <a:t>. Measure with a 100 km ruler,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2743238"/>
            <a:ext cx="617899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get one length. Use a 1 km ruler, and the measured length grows — every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005153"/>
            <a:ext cx="629620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bay and inlet you’d smoothed over now counts. The length never converges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267068"/>
            <a:ext cx="1645922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to a single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3750308"/>
            <a:ext cx="5763460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Mandelbrot’s insight: this isn’t a flaw in the coastline — it’s a sign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61" y="4012223"/>
            <a:ext cx="6436143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classical length and area are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the wrong tools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for something like this. What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61" y="4274117"/>
            <a:ext cx="6438380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coastline actually needs is exactly the ”useless” mathematics of Cantor, Koch,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61" y="4536032"/>
            <a:ext cx="1298958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and Hausdorff.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15690"/>
            <a:ext cx="6438382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977584"/>
            <a:ext cx="832364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2481" y="1623545"/>
            <a:ext cx="2913587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481344"/>
            <a:ext cx="6413783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The honest answer: </a:t>
            </a:r>
            <a:r>
              <a:rPr sz="1470" b="1" i="0">
                <a:solidFill>
                  <a:srgbClr val="9B4632"/>
                </a:solidFill>
                <a:latin typeface="Arial"/>
              </a:rPr>
              <a:t>it depends on your ruler</a:t>
            </a:r>
            <a:r>
              <a:rPr sz="1470" b="0" i="0">
                <a:solidFill>
                  <a:srgbClr val="191919"/>
                </a:solidFill>
                <a:latin typeface="Arial"/>
              </a:rPr>
              <a:t>. Measure with a 100 km ruler,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2743238"/>
            <a:ext cx="617899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get one length. Use a 1 km ruler, and the measured length grows — every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005153"/>
            <a:ext cx="6296206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bay and inlet you’d smoothed over now counts. The length never converges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3267068"/>
            <a:ext cx="1645922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to a single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3750308"/>
            <a:ext cx="5763460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Mandelbrot’s insight: this isn’t a flaw in the coastline — it’s a sign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61" y="4012223"/>
            <a:ext cx="6436143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classical length and area are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the wrong tools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for something like this. What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61" y="4274117"/>
            <a:ext cx="6438380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coastline actually needs is exactly the ”useless” mathematics of Cantor, Koch,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61" y="4536032"/>
            <a:ext cx="1298958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and Hausdorff.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613" y="5102089"/>
            <a:ext cx="5239661" cy="2625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70" b="0" i="0">
                <a:solidFill>
                  <a:srgbClr val="191919"/>
                </a:solidFill>
                <a:latin typeface="Arial"/>
              </a:rPr>
              <a:t>He had a real problem no one had connected to these ideas.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613" y="5405402"/>
            <a:ext cx="6078000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70" b="0" i="0">
                <a:solidFill>
                  <a:srgbClr val="191919"/>
                </a:solidFill>
                <a:latin typeface="Arial"/>
              </a:rPr>
              <a:t>He had</a:t>
            </a:r>
            <a:r>
              <a:rPr sz="1470" b="1" i="0">
                <a:solidFill>
                  <a:srgbClr val="9B4632"/>
                </a:solidFill>
                <a:latin typeface="Arial"/>
              </a:rPr>
              <a:t> computers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— something Cantor, Koch, and Julia never had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362" y="5667317"/>
            <a:ext cx="3819756" cy="268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letting him</a:t>
            </a:r>
            <a:r>
              <a:rPr sz="1470" b="0" i="1">
                <a:solidFill>
                  <a:srgbClr val="191919"/>
                </a:solidFill>
                <a:latin typeface="Arial"/>
              </a:rPr>
              <a:t> see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these shapes for the first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613" y="5970629"/>
            <a:ext cx="5961538" cy="2678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70" b="0" i="0">
                <a:solidFill>
                  <a:srgbClr val="191919"/>
                </a:solidFill>
                <a:latin typeface="Arial"/>
              </a:rPr>
              <a:t>He united a century of scattered “monsters” under one name: </a:t>
            </a:r>
            <a:r>
              <a:rPr sz="1470" b="1" i="0">
                <a:solidFill>
                  <a:srgbClr val="9B4632"/>
                </a:solidFill>
                <a:latin typeface="Arial"/>
              </a:rPr>
              <a:t>fractal</a:t>
            </a:r>
            <a:r>
              <a:rPr sz="1470" b="0" i="0">
                <a:solidFill>
                  <a:srgbClr val="191919"/>
                </a:solidFill>
                <a:latin typeface="Arial"/>
              </a:rPr>
              <a:t>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362" y="6232544"/>
            <a:ext cx="2735820" cy="268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70" b="0" i="0">
                <a:solidFill>
                  <a:srgbClr val="191919"/>
                </a:solidFill>
                <a:latin typeface="Arial"/>
              </a:rPr>
              <a:t>from the Latin</a:t>
            </a:r>
            <a:r>
              <a:rPr sz="1470" b="0" i="1">
                <a:solidFill>
                  <a:srgbClr val="191919"/>
                </a:solidFill>
                <a:latin typeface="Arial"/>
              </a:rPr>
              <a:t> fractus</a:t>
            </a:r>
            <a:r>
              <a:rPr sz="1470" b="0" i="0">
                <a:solidFill>
                  <a:srgbClr val="191919"/>
                </a:solidFill>
                <a:latin typeface="Arial"/>
              </a:rPr>
              <a:t> (“broken”).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6758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1743290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Definition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75165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are Fractals?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180" y="849182"/>
            <a:ext cx="123389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180" y="1349318"/>
            <a:ext cx="700555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is a geometric shape containing detailed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180" y="1695814"/>
            <a:ext cx="700555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at arbitrarily small scales, usually having 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180" y="2042285"/>
            <a:ext cx="520586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strictly exceeding the</a:t>
            </a:r>
            <a:r>
              <a:rPr sz="1980" b="1" i="0">
                <a:solidFill>
                  <a:srgbClr val="9B4632"/>
                </a:solidFill>
                <a:latin typeface="Arial"/>
              </a:rPr>
              <a:t> topological dimension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2" y="2841389"/>
            <a:ext cx="2494031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Key Characteristics: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022" y="3344978"/>
            <a:ext cx="6542079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Scale invariance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Details at every level of magnification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022" y="3722799"/>
            <a:ext cx="6836838" cy="33485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More than the</a:t>
            </a:r>
            <a:r>
              <a:rPr sz="1980" b="0" i="1">
                <a:solidFill>
                  <a:srgbClr val="191919"/>
                </a:solidFill>
                <a:latin typeface="Arial"/>
              </a:rPr>
              <a:t> conventional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022" y="4071765"/>
            <a:ext cx="6728875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Infinite complexity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Generated by simple, recursive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58" y="4430381"/>
            <a:ext cx="403288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Like the infinite complexities of 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4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3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6753" y="6628589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75165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are Fractals?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180" y="849182"/>
            <a:ext cx="123389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180" y="1349318"/>
            <a:ext cx="700555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is a geometric shape containing detailed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180" y="1695814"/>
            <a:ext cx="700555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at arbitrarily small scales, usually having 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180" y="2042285"/>
            <a:ext cx="520586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strictly exceeding the</a:t>
            </a:r>
            <a:r>
              <a:rPr sz="1980" b="1" i="0">
                <a:solidFill>
                  <a:srgbClr val="9B4632"/>
                </a:solidFill>
                <a:latin typeface="Arial"/>
              </a:rPr>
              <a:t> topological dimension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2" y="2841389"/>
            <a:ext cx="2494031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Key Characteristics: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022" y="3344978"/>
            <a:ext cx="6542079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Scale invariance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Details at every level of magnification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022" y="3722799"/>
            <a:ext cx="6836838" cy="33485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More than the</a:t>
            </a:r>
            <a:r>
              <a:rPr sz="1980" b="0" i="1">
                <a:solidFill>
                  <a:srgbClr val="191919"/>
                </a:solidFill>
                <a:latin typeface="Arial"/>
              </a:rPr>
              <a:t> conventional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022" y="4071765"/>
            <a:ext cx="6728875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Infinite complexity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Generated by simple, recursive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58" y="4430381"/>
            <a:ext cx="403288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Like the infinite complexities of 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8706" y="5264223"/>
            <a:ext cx="4966594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”Clouds are not spheres, mountains are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573" y="5610693"/>
            <a:ext cx="3956530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cones, coastlines are not circles...”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3566" y="5956703"/>
            <a:ext cx="262634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— Benoit Mandelbrot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77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6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6756" y="6628589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2542307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Some Fractals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148" y="3994977"/>
            <a:ext cx="250880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3. Repeat for each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148" y="3994977"/>
            <a:ext cx="250880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3. Repeat for each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48" y="4369700"/>
            <a:ext cx="3328906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4. After infinite iterations, we get 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192" y="4644018"/>
            <a:ext cx="1711993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Sierpinski Triangle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3004363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Area &amp; Perimeter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2373407"/>
            <a:ext cx="36806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908268"/>
            <a:ext cx="186043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220210"/>
            <a:ext cx="36806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755070"/>
            <a:ext cx="186043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967251"/>
            <a:ext cx="470536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cut out one fourth of the area at each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284865"/>
            <a:ext cx="324358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So, naturally area is reduced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3461" y="5284865"/>
            <a:ext cx="81737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602455"/>
            <a:ext cx="56157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240598"/>
            <a:ext cx="36806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775459"/>
            <a:ext cx="186043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946862"/>
            <a:ext cx="470536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cut out one fourth of the area at each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264452"/>
            <a:ext cx="324358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So, naturally area is reduced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3461" y="5264452"/>
            <a:ext cx="81737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582067"/>
            <a:ext cx="56157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6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6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65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68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886967"/>
            <a:ext cx="36806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421828"/>
            <a:ext cx="186043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5624511"/>
            <a:ext cx="453227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The area of the Sierpinski Triangle is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942101"/>
            <a:ext cx="318256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even though it is a 2D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454" y="4686805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61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61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60" y="6628561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2457555"/>
            <a:ext cx="285627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992416"/>
            <a:ext cx="239484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60" y="6628562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161995"/>
            <a:ext cx="285627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696855"/>
            <a:ext cx="239484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045227"/>
            <a:ext cx="462876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add half of the previous perimeter at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4362842"/>
            <a:ext cx="399537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 This is because we add the 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158" y="4680432"/>
            <a:ext cx="4578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number of triangles as the last step, but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4998046"/>
            <a:ext cx="435127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triangle is half the size of the previous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58" y="5315661"/>
            <a:ext cx="461362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As a result, the perimeter grows by a factor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279" y="5633252"/>
            <a:ext cx="136556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901889"/>
            <a:ext cx="285627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436750"/>
            <a:ext cx="239484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305332"/>
            <a:ext cx="462876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add half of the previous perimeter at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4622947"/>
            <a:ext cx="399537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 This is because we add the 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158" y="4940537"/>
            <a:ext cx="4578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number of triangles as the last step, but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258151"/>
            <a:ext cx="435127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triangle is half the size of the previous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58" y="5575767"/>
            <a:ext cx="461362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As a result, the perimeter grows by a factor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279" y="5893357"/>
            <a:ext cx="136556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038381"/>
            <a:ext cx="285627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573241"/>
            <a:ext cx="239484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5473104"/>
            <a:ext cx="38014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The Sierpinski Triangle has infinite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790719"/>
            <a:ext cx="263685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perimeter but zero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60" y="6628588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74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3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53" y="6628587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781" y="3952360"/>
            <a:ext cx="5896886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If it isn’t a line, and it isn’t a surface — what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its true di-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781" y="4269975"/>
            <a:ext cx="105576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mension?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56" y="6628590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781" y="3952360"/>
            <a:ext cx="5896886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If it isn’t a line, and it isn’t a surface — what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its true di-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781" y="4269975"/>
            <a:ext cx="105576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mension?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5267755"/>
            <a:ext cx="750170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number is exactly what Hausdorff was reaching for in 1918 — and it’s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5585370"/>
            <a:ext cx="364670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where Speaker 2 picks up the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56" y="6628590"/>
            <a:ext cx="36229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3205022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Fractal Dimension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28502" y="1610456"/>
            <a:ext cx="52451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1">
                <a:solidFill>
                  <a:srgbClr val="7A5C4B"/>
                </a:solidFill>
                <a:latin typeface="Arial"/>
              </a:rPr>
              <a:t>Let’s talk about a property of fractals...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9273" y="3587402"/>
            <a:ext cx="5725470" cy="7289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2364" y="4739554"/>
            <a:ext cx="6659300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6B6257"/>
                </a:solidFill>
                <a:latin typeface="Arial"/>
              </a:rPr>
              <a:t>What does it mean for a shape to have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</a:t>
            </a:r>
            <a:r>
              <a:rPr sz="1780" b="0" i="0">
                <a:solidFill>
                  <a:srgbClr val="6B6257"/>
                </a:solidFill>
                <a:latin typeface="Arial"/>
              </a:rPr>
              <a:t> dimension?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4504" y="3662673"/>
            <a:ext cx="670231" cy="26073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Square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7143" y="2811674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2D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4504" y="3662673"/>
            <a:ext cx="670231" cy="26073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Square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7143" y="2811674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2D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1005" y="5467590"/>
            <a:ext cx="517248" cy="26073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7143" y="4518141"/>
            <a:ext cx="500714" cy="4083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3D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3284" y="6116264"/>
            <a:ext cx="4490553" cy="283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1">
                <a:solidFill>
                  <a:srgbClr val="6B6257"/>
                </a:solidFill>
                <a:latin typeface="Arial"/>
              </a:rPr>
              <a:t>Dimensions are always whole numbers...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333787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6384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About This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6545" y="1521719"/>
            <a:ext cx="352415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What dimension does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2196515"/>
            <a:ext cx="178933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shape have?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2866947"/>
            <a:ext cx="148872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Any guesses?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266" y="3492480"/>
            <a:ext cx="242399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 lives in 2D space...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266" y="3910498"/>
            <a:ext cx="227915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But it has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266" y="4328541"/>
            <a:ext cx="2575622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infinite perimeter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736" y="4960898"/>
            <a:ext cx="420258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It’s not quite 2D, but it’s clearly more than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736" y="5278513"/>
            <a:ext cx="61626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7890" y="4479927"/>
            <a:ext cx="191647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 Triangle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87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9631" y="2333791"/>
            <a:ext cx="2622573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6384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About This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713572"/>
            <a:ext cx="2629610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Sierpinski 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9654" y="2266429"/>
            <a:ext cx="353372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The Sierpinski Triangle has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612925"/>
            <a:ext cx="2321545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fractal dimension of: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8140" y="3017509"/>
            <a:ext cx="1835123" cy="779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5540" b="1" i="0">
                <a:solidFill>
                  <a:srgbClr val="9B4632"/>
                </a:solidFill>
                <a:latin typeface="Arial"/>
              </a:rPr>
              <a:t>1.585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8066" y="3698910"/>
            <a:ext cx="316989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E69650"/>
                </a:solidFill>
                <a:latin typeface="Arial"/>
              </a:rPr>
              <a:t>!!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654" y="4467229"/>
            <a:ext cx="3533723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non-integer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dimension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54" y="4813725"/>
            <a:ext cx="3533724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between a line (1D) and a filled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654" y="5160196"/>
            <a:ext cx="153091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surface (2D).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80" y="6628590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9" y="6628590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976" y="6628590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6476" y="2386577"/>
            <a:ext cx="1959748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Line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4628" y="2379456"/>
            <a:ext cx="229605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9106" y="2379456"/>
            <a:ext cx="104910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21750" y="2386577"/>
            <a:ext cx="21579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8825" y="2725927"/>
            <a:ext cx="927588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pieces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6823" y="2725927"/>
            <a:ext cx="174583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again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3829" y="2725927"/>
            <a:ext cx="871598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pieces.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872" y="4640489"/>
            <a:ext cx="1304049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639" y="4640489"/>
            <a:ext cx="86899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2 pieces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719" y="4640489"/>
            <a:ext cx="868988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2635" y="2066190"/>
            <a:ext cx="2297190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Square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3128" y="2059069"/>
            <a:ext cx="1414167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 — Step 1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62168" y="2059069"/>
            <a:ext cx="1049358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2301" y="2405540"/>
            <a:ext cx="2657731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4 self-similar pieces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6334" y="2405540"/>
            <a:ext cx="64814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2" y="4934566"/>
            <a:ext cx="1574004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Square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240" y="4904223"/>
            <a:ext cx="86899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5" y="6628562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08241" y="2060116"/>
            <a:ext cx="2297191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Square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0981" y="2052995"/>
            <a:ext cx="1414167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 — Step 2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0021" y="2052995"/>
            <a:ext cx="2015738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each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045" y="2399466"/>
            <a:ext cx="33756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2131" y="2399466"/>
            <a:ext cx="689069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1990" y="2399466"/>
            <a:ext cx="2252247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self-similar pieces 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3044" y="2399466"/>
            <a:ext cx="64814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grid)!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203" y="4928492"/>
            <a:ext cx="83524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4718" y="4898149"/>
            <a:ext cx="86899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7034" y="4940639"/>
            <a:ext cx="980667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16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62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4077" y="1750566"/>
            <a:ext cx="2071225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Cube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3999" y="1743445"/>
            <a:ext cx="229605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8477" y="1743445"/>
            <a:ext cx="1049357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1808" y="2089941"/>
            <a:ext cx="2657730" cy="3343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8 self-similar pieces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668" y="2089941"/>
            <a:ext cx="133156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 in 3D).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8009" y="5276500"/>
            <a:ext cx="139323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62" y="3932230"/>
            <a:ext cx="64156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0561" y="5276500"/>
            <a:ext cx="1828895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8 separated cubes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5" y="6628562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71" y="3446170"/>
            <a:ext cx="1388221" cy="10411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9778" y="1345955"/>
            <a:ext cx="2804356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Do You See a Pattern?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5462" y="1685305"/>
            <a:ext cx="4350965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Each scaling step multiplies pieces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52529" y="1685305"/>
            <a:ext cx="145997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391" y="2604589"/>
            <a:ext cx="75432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5994" y="2604589"/>
            <a:ext cx="6666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886" y="2604589"/>
            <a:ext cx="95408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1st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6982" y="2604589"/>
            <a:ext cx="102932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2nd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391" y="3140794"/>
            <a:ext cx="503277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7549" y="3147203"/>
            <a:ext cx="20183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391" y="3553671"/>
            <a:ext cx="8035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7549" y="3560080"/>
            <a:ext cx="20183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91" y="3966573"/>
            <a:ext cx="61626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7566" y="3972982"/>
            <a:ext cx="20183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654" y="4809068"/>
            <a:ext cx="131698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The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8292" y="5499061"/>
            <a:ext cx="197454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 of pieces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6642" y="5123627"/>
            <a:ext cx="2778954" cy="28275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What if the shape is a</a:t>
            </a:r>
            <a:r>
              <a:rPr sz="1580" b="1" i="0">
                <a:solidFill>
                  <a:srgbClr val="9B4632"/>
                </a:solidFill>
                <a:latin typeface="Arial"/>
              </a:rPr>
              <a:t> fractal</a:t>
            </a:r>
            <a:r>
              <a:rPr sz="1580" b="0" i="0">
                <a:solidFill>
                  <a:srgbClr val="191919"/>
                </a:solidFill>
                <a:latin typeface="Arial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6976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290958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Self-Similarity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0544" y="790901"/>
            <a:ext cx="22432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After scaling by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71790" y="790901"/>
            <a:ext cx="374183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, the number of self-similar pieces 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6253" y="2335997"/>
            <a:ext cx="108325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Square 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8441" y="2335997"/>
            <a:ext cx="159807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2919" y="2328876"/>
            <a:ext cx="1869863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with scale 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1738" y="2328877"/>
            <a:ext cx="145997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034" y="2780488"/>
            <a:ext cx="871598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4138" y="5211203"/>
            <a:ext cx="1574003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0156" y="3905517"/>
            <a:ext cx="64156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5959" y="5211203"/>
            <a:ext cx="1873686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separated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290958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Self-Similarity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2519" y="787979"/>
            <a:ext cx="2197500" cy="2973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39" b="0" i="0">
                <a:solidFill>
                  <a:srgbClr val="191919"/>
                </a:solidFill>
                <a:latin typeface="Arial"/>
              </a:rPr>
              <a:t>After scaling by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4364" y="787979"/>
            <a:ext cx="3664493" cy="2973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39" b="0" i="0">
                <a:solidFill>
                  <a:srgbClr val="191919"/>
                </a:solidFill>
                <a:latin typeface="Arial"/>
              </a:rPr>
              <a:t>, the number of self-similar pieces 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94353" y="2300498"/>
            <a:ext cx="840806" cy="3219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39" b="1" i="0">
                <a:solidFill>
                  <a:srgbClr val="9B4632"/>
                </a:solidFill>
                <a:latin typeface="Arial"/>
              </a:rPr>
              <a:t>Cube 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19850" y="2300498"/>
            <a:ext cx="158043" cy="3219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39" b="1" i="0">
                <a:solidFill>
                  <a:srgbClr val="9B4632"/>
                </a:solidFill>
                <a:latin typeface="Arial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5794" y="2293527"/>
            <a:ext cx="1832017" cy="3219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with scale 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2318" y="2293527"/>
            <a:ext cx="144525" cy="3219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156" y="2735610"/>
            <a:ext cx="854815" cy="3219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820" y="5688634"/>
            <a:ext cx="1365441" cy="272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9B4632"/>
                </a:solidFill>
                <a:latin typeface="Arial"/>
              </a:rPr>
              <a:t>Original 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789" y="4403516"/>
            <a:ext cx="629640" cy="2973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39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0941" y="5688634"/>
            <a:ext cx="2349332" cy="272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9B4632"/>
                </a:solidFill>
                <a:latin typeface="Arial"/>
              </a:rPr>
              <a:t>8 separated small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4766" y="6358632"/>
            <a:ext cx="5382599" cy="2728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50" b="0" i="1">
                <a:solidFill>
                  <a:srgbClr val="191919"/>
                </a:solidFill>
                <a:latin typeface="Arial"/>
              </a:rPr>
              <a:t>Can we use this same rule to find the dimension of a</a:t>
            </a:r>
            <a:r>
              <a:rPr sz="1550" b="1" i="1">
                <a:solidFill>
                  <a:srgbClr val="9B4632"/>
                </a:solidFill>
                <a:latin typeface="Arial"/>
              </a:rPr>
              <a:t> fractal</a:t>
            </a:r>
            <a:r>
              <a:rPr sz="1550" b="0" i="1">
                <a:solidFill>
                  <a:srgbClr val="191919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468639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564" y="2462214"/>
            <a:ext cx="395673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apply the self-similarity rule to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2779829"/>
            <a:ext cx="2145154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Sierpinski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3529004"/>
            <a:ext cx="75319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4083001"/>
            <a:ext cx="321827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Scale the Sierpinski Triangle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6851" y="4083001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7443" y="4595272"/>
            <a:ext cx="90165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7E8C57"/>
                </a:solidFill>
                <a:latin typeface="Arial"/>
              </a:rPr>
              <a:t>scale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13" y="2395558"/>
            <a:ext cx="1233867" cy="925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07" y="3488549"/>
            <a:ext cx="1233867" cy="925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44" y="3488549"/>
            <a:ext cx="1233867" cy="925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643727"/>
            <a:ext cx="312698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2 — Self-Similar Pieces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3175270"/>
            <a:ext cx="3533722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We get exactly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3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self-similar copies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9654" y="3492860"/>
            <a:ext cx="229813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of the original triangle.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654" y="3953342"/>
            <a:ext cx="353372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Each smaller triangle is a perfect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54" y="4270957"/>
            <a:ext cx="181614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replica, scaled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5629" y="4270957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4563" y="4578695"/>
            <a:ext cx="1523110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3 copies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13" y="2395558"/>
            <a:ext cx="1233867" cy="925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07" y="3488549"/>
            <a:ext cx="1233867" cy="925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44" y="3488549"/>
            <a:ext cx="1233867" cy="925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462301"/>
            <a:ext cx="253720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3 — The Equation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3059570"/>
            <a:ext cx="653772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Using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2945" y="3059570"/>
            <a:ext cx="139018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4563" y="4578695"/>
            <a:ext cx="1523110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3 copies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62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011" y="2423476"/>
            <a:ext cx="2159509" cy="1619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670469"/>
            <a:ext cx="228163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4 — Solving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3569" y="4257362"/>
            <a:ext cx="1458210" cy="6285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4350" b="1" i="0">
                <a:solidFill>
                  <a:srgbClr val="9B4632"/>
                </a:solidFill>
                <a:latin typeface="Arial"/>
              </a:rPr>
              <a:t>1.585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5205430"/>
            <a:ext cx="394633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Not an integer!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— strictly between 1D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5523020"/>
            <a:ext cx="23901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(line) and 2D (surface).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6" y="6628562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1825661"/>
            <a:ext cx="2622572" cy="9260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5089" y="4312096"/>
            <a:ext cx="678384" cy="23955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214" y="3864130"/>
            <a:ext cx="546654" cy="70727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4107" y="3863655"/>
            <a:ext cx="546653" cy="70727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8228" y="4312096"/>
            <a:ext cx="678384" cy="2395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3068" y="127907"/>
            <a:ext cx="373927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Similarly: The Koch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564" y="2262395"/>
            <a:ext cx="392283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can be divided into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580010"/>
            <a:ext cx="350095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self-similar pieces, each scaled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511" y="2580010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654" y="3329184"/>
            <a:ext cx="702806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183" y="3883156"/>
            <a:ext cx="152781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Scale factor: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183" y="4301199"/>
            <a:ext cx="217679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Self-similar pieces: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4563" y="5137816"/>
            <a:ext cx="1523110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4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63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63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76" y="6628563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636013"/>
            <a:ext cx="2622572" cy="926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73927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Similarly: The Koch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384202"/>
            <a:ext cx="185117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Koch 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3544" y="4142365"/>
            <a:ext cx="1458210" cy="6285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4350" b="1" i="0">
                <a:solidFill>
                  <a:srgbClr val="9B4632"/>
                </a:solidFill>
                <a:latin typeface="Arial"/>
              </a:rPr>
              <a:t>1.262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5161854"/>
            <a:ext cx="413072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Also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between a line (1D)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5479469"/>
            <a:ext cx="39079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a surface (2D), but closer to a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5797059"/>
            <a:ext cx="285649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than the Sierpinski Triangle.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951" y="6628562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667534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General Theory: Box-Counting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76540"/>
            <a:ext cx="6317390" cy="265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Self-Similarity Dimension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works beautifully for self-similar fractals. But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035697"/>
            <a:ext cx="292981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what about more complex shapes?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863" y="1646986"/>
            <a:ext cx="2284124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Box-Counting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863" y="2079218"/>
            <a:ext cx="183774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2623" y="2079218"/>
            <a:ext cx="1162554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defined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863" y="3016550"/>
            <a:ext cx="576417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088" y="3016550"/>
            <a:ext cx="3152729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the number of boxes of side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6652" y="3016550"/>
            <a:ext cx="1410727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needed to 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63" y="3275708"/>
            <a:ext cx="93521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667534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General Theory: Box-Counting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76540"/>
            <a:ext cx="6317390" cy="265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Self-Similarity Dimension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works beautifully for self-similar fractals. But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035697"/>
            <a:ext cx="292981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what about more complex shapes?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863" y="1646986"/>
            <a:ext cx="2284124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Box-Counting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863" y="2079218"/>
            <a:ext cx="183774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2623" y="2079218"/>
            <a:ext cx="1162554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defined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863" y="3016550"/>
            <a:ext cx="576417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088" y="3016550"/>
            <a:ext cx="3152729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the number of boxes of side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6652" y="3016550"/>
            <a:ext cx="1410727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needed to 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63" y="3275708"/>
            <a:ext cx="93521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862" y="4040398"/>
            <a:ext cx="803386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Intuition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9631" y="4432450"/>
            <a:ext cx="3799342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Cover the fractal with a grid of boxes of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9631" y="4732570"/>
            <a:ext cx="2154138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Count how many 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5748" y="4732570"/>
            <a:ext cx="1630321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the fractal touches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631" y="5032690"/>
            <a:ext cx="765773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Shrink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7815" y="5032690"/>
            <a:ext cx="1531495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and observe 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1289" y="5032690"/>
            <a:ext cx="615505" cy="2605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grows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9631" y="5332810"/>
            <a:ext cx="3659952" cy="2658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rate of growth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tells us the dimension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895" y="6184846"/>
            <a:ext cx="5418216" cy="2400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290" b="0" i="0">
                <a:solidFill>
                  <a:srgbClr val="6B6257"/>
                </a:solidFill>
                <a:latin typeface="Arial"/>
              </a:rPr>
              <a:t>For a deeper dive, see</a:t>
            </a:r>
            <a:r>
              <a:rPr sz="1290" b="0" i="0">
                <a:solidFill>
                  <a:srgbClr val="7E8C57"/>
                </a:solidFill>
                <a:latin typeface="Arial"/>
              </a:rPr>
              <a:t> 3Blue1Brown: Fractals are typically not self-similar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3052" y="3847343"/>
            <a:ext cx="5917901" cy="30899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now know </a:t>
            </a:r>
            <a:r>
              <a:rPr sz="1780" b="0" i="1">
                <a:solidFill>
                  <a:srgbClr val="191919"/>
                </a:solidFill>
                <a:latin typeface="Arial"/>
              </a:rPr>
              <a:t>what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fractals are and how to measure their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9023" y="4164958"/>
            <a:ext cx="11859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complexity.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781" y="4583001"/>
            <a:ext cx="591089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But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where do we see them</a:t>
            </a:r>
            <a:r>
              <a:rPr sz="1780" b="0" i="0">
                <a:solidFill>
                  <a:srgbClr val="191919"/>
                </a:solidFill>
                <a:latin typeface="Arial"/>
              </a:rPr>
              <a:t>? And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how are they used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781" y="4900590"/>
            <a:ext cx="198268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computer science?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3052" y="3847343"/>
            <a:ext cx="5917901" cy="30899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now know </a:t>
            </a:r>
            <a:r>
              <a:rPr sz="1780" b="0" i="1">
                <a:solidFill>
                  <a:srgbClr val="191919"/>
                </a:solidFill>
                <a:latin typeface="Arial"/>
              </a:rPr>
              <a:t>what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fractals are and how to measure their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9023" y="4164958"/>
            <a:ext cx="11859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complexity.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781" y="4583001"/>
            <a:ext cx="591089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But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where do we see them</a:t>
            </a:r>
            <a:r>
              <a:rPr sz="1780" b="0" i="0">
                <a:solidFill>
                  <a:srgbClr val="191919"/>
                </a:solidFill>
                <a:latin typeface="Arial"/>
              </a:rPr>
              <a:t>? And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how are they used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781" y="4900590"/>
            <a:ext cx="198268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computer science?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61" y="5840481"/>
            <a:ext cx="702400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That’s exactly where Speaker 3 takes us — fractals in nature, art, 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61" y="6158096"/>
            <a:ext cx="137099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4498274" cy="4377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Fractals in the Real World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1382" y="1356374"/>
            <a:ext cx="6919389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1">
                <a:solidFill>
                  <a:srgbClr val="7A5C4B"/>
                </a:solidFill>
                <a:latin typeface="Arial"/>
              </a:rPr>
              <a:t>We know what a fractal is, and how to measure it...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5741" y="3333320"/>
            <a:ext cx="6052519" cy="7289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Fractals in the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20634" y="3841484"/>
            <a:ext cx="1902715" cy="72899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4044" y="4993636"/>
            <a:ext cx="417592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6B6257"/>
                </a:solidFill>
                <a:latin typeface="Arial"/>
              </a:rPr>
              <a:t>Where does all of this actually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show up</a:t>
            </a:r>
            <a:r>
              <a:rPr sz="1780" b="0" i="0">
                <a:solidFill>
                  <a:srgbClr val="6B6257"/>
                </a:solidFill>
                <a:latin typeface="Arial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10" y="-49546323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3963" y="-47162931"/>
            <a:ext cx="2198735" cy="21855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58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9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9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92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3963" y="-47162931"/>
            <a:ext cx="2198735" cy="21855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58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92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92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92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61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881" y="3240665"/>
            <a:ext cx="2198840" cy="2185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881" y="3240665"/>
            <a:ext cx="2198840" cy="2185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451" y="5947289"/>
            <a:ext cx="644259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Broccoli, ice, leaves, cones —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same shape at every zoom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79880" y="-49062177"/>
            <a:ext cx="2391641" cy="188341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41644" y="-49062177"/>
            <a:ext cx="2391641" cy="1883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70" y="5711256"/>
            <a:ext cx="4320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92" y="5711256"/>
            <a:ext cx="12505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92" y="662859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11" y="662859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8" y="662859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41638" y="-49062177"/>
            <a:ext cx="2391641" cy="1883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63" y="5711256"/>
            <a:ext cx="4320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86" y="5711256"/>
            <a:ext cx="12505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6" y="662859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5" y="662859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2" y="662859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6931" y="3620986"/>
            <a:ext cx="773015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Stand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right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on each square’s top edge and grow a new square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1" y="3967457"/>
            <a:ext cx="152058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each leg — 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5927" y="3967457"/>
            <a:ext cx="247258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sits at every single joint.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6931" y="3620986"/>
            <a:ext cx="773015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Stand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right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on each square’s top edge and grow a new square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1" y="3967457"/>
            <a:ext cx="152058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each leg — 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5927" y="3967457"/>
            <a:ext cx="247258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sits at every single joint.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451" y="4721589"/>
            <a:ext cx="730714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Nobody designed a single branch.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One rule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, repeated twelve times, 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451" y="5039179"/>
            <a:ext cx="15949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 tree appears.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2489" y="3228721"/>
            <a:ext cx="284339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tree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leans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, the way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7100" y="3546336"/>
            <a:ext cx="266013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real one grows toward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7100" y="3863926"/>
            <a:ext cx="49062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2489" y="3228721"/>
            <a:ext cx="2843391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tree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leans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, the way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7100" y="3546336"/>
            <a:ext cx="266013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real one grows toward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7100" y="3863926"/>
            <a:ext cx="49062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7121" y="4766820"/>
            <a:ext cx="275526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One number changed </a:t>
            </a:r>
            <a:r>
              <a:rPr sz="1780" b="0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7121" y="5084435"/>
            <a:ext cx="275526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and a diagram turns into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7121" y="5402025"/>
            <a:ext cx="62891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plant.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4366" y="-49351669"/>
            <a:ext cx="2410881" cy="19287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1974" y="-49351466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44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2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48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25" y="6000840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1974" y="-49351466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44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2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48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25" y="6000840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32" y="6000840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6" y="6628586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905" y="6628586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82" y="6628586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032" y="6000837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6" y="6628583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905" y="6628583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82" y="6628583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796" y="4338166"/>
            <a:ext cx="704547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Doctors track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 retinal vessels to spot disease early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6025" y="6000837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83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83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76" y="6628583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796" y="4338166"/>
            <a:ext cx="704547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Doctors track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 retinal vessels to spot disease early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451" y="5060440"/>
            <a:ext cx="7307147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Branching again and again is nature’s cheapest way to get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area out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451" y="5378055"/>
            <a:ext cx="925610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volume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6025" y="6000837"/>
            <a:ext cx="3111936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" y="6628583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9" y="6628583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76" y="6628583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0871" y="2960272"/>
            <a:ext cx="398836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Those 28 numbers redraw the fern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482" y="3277862"/>
            <a:ext cx="362320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any resolution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zoom in, there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482" y="3595477"/>
            <a:ext cx="17578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always more leaf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0871" y="2960272"/>
            <a:ext cx="398836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Those 28 numbers redraw the fern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482" y="3277862"/>
            <a:ext cx="3623203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any resolution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zoom in, there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482" y="3595477"/>
            <a:ext cx="17578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always more leaf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5502" y="4426926"/>
            <a:ext cx="4066779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Store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rule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, not the pixels — the 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5502" y="4744541"/>
            <a:ext cx="3750199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behind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fractal image compression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1271" y="-49328932"/>
            <a:ext cx="2468870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64428" y="-49328932"/>
            <a:ext cx="2468870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3" y="5632621"/>
            <a:ext cx="779147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66" y="5979092"/>
            <a:ext cx="709253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9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8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5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64422" y="-49328932"/>
            <a:ext cx="2468870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7" y="5632621"/>
            <a:ext cx="779147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60" y="5979092"/>
            <a:ext cx="709253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3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2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9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692" y="1074794"/>
            <a:ext cx="2468868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5632621"/>
            <a:ext cx="779147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54" y="5979092"/>
            <a:ext cx="709253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7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6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3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692" y="1074794"/>
            <a:ext cx="2468868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448" y="4325364"/>
            <a:ext cx="7307149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Add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smaller bumps at every scale </a:t>
            </a:r>
            <a:r>
              <a:rPr sz="1780" b="0" i="0">
                <a:solidFill>
                  <a:srgbClr val="000000"/>
                </a:solidFill>
                <a:latin typeface="Arial"/>
              </a:rPr>
              <a:t>— the Koch idea — and a handful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448" y="4642954"/>
            <a:ext cx="73071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of numbers becomes an endless mountain range. Store the rule, not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448" y="4960569"/>
            <a:ext cx="57852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5632621"/>
            <a:ext cx="779147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7354" y="5979092"/>
            <a:ext cx="709253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7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6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3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88" y="728068"/>
            <a:ext cx="7483907" cy="42491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610650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Keep stacking layers and you get a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911" y="6430682"/>
            <a:ext cx="3814411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15 layers of value noise, each half the width 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65040" y="6430682"/>
            <a:ext cx="231825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 the height of the one before.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7" y="6628591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6" y="6628591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3" y="6628591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88" y="728068"/>
            <a:ext cx="7483907" cy="42491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610650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Keep stacking layers and you get a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448" y="5441015"/>
            <a:ext cx="7307148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Same rule,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15 layers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instead of 7 — ridges, valleys, snow lines and lakes.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448" y="5758630"/>
            <a:ext cx="374161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Not one of them was drawn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0911" y="6430682"/>
            <a:ext cx="3814411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15 layers of value noise, each half the width 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65040" y="6430682"/>
            <a:ext cx="2318250" cy="25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 the height of the one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7" y="6628591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6" y="6628591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3" y="6628591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973" y="6628590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429" y="3504370"/>
            <a:ext cx="746351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Only the mathematical ones — Sierpinski, Koch — 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27" y="3908577"/>
            <a:ext cx="150431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on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429" y="3504370"/>
            <a:ext cx="7463517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Only the mathematical ones — Sierpinski, Koch — 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27" y="3908577"/>
            <a:ext cx="1504312" cy="3860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on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448" y="5012607"/>
            <a:ext cx="7307149" cy="3085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 fractal is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model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of nature — and every good model knows the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448" y="5330197"/>
            <a:ext cx="157842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where it 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64" y="1472027"/>
            <a:ext cx="1781607" cy="13362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8975" y="-48980958"/>
            <a:ext cx="1578486" cy="1304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068" y="127907"/>
            <a:ext cx="769581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rule, repeated, explains what smooth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068" y="532140"/>
            <a:ext cx="12693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couldn’t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188" y="1084785"/>
            <a:ext cx="235259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1 — the surprise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436" y="3007377"/>
            <a:ext cx="1090114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zero area,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882" y="3353873"/>
            <a:ext cx="12912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infinite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91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91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951" y="6628591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64" y="1472027"/>
            <a:ext cx="1781607" cy="13362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8975" y="-48980965"/>
            <a:ext cx="1578486" cy="1304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068" y="127907"/>
            <a:ext cx="769581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rule, repeated, explains what smooth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068" y="532140"/>
            <a:ext cx="12693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couldn’t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188" y="1084785"/>
            <a:ext cx="235259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1 — the surprise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436" y="3007377"/>
            <a:ext cx="1090114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zero area,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882" y="3353873"/>
            <a:ext cx="12912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infinite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7235" y="1084785"/>
            <a:ext cx="22895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2 — 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614" y="3428568"/>
            <a:ext cx="10578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1307" y="3775039"/>
            <a:ext cx="58440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Koch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951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64" y="1472027"/>
            <a:ext cx="1781607" cy="13362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247" y="1422760"/>
            <a:ext cx="1578486" cy="13040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068" y="127907"/>
            <a:ext cx="769581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rule, repeated, explains what smooth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068" y="532140"/>
            <a:ext cx="12693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couldn’t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188" y="1084785"/>
            <a:ext cx="235259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1 — the surprise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436" y="3007377"/>
            <a:ext cx="1090114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zero area,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882" y="3353873"/>
            <a:ext cx="12912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infinite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7235" y="1084785"/>
            <a:ext cx="22895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2 — 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614" y="3428568"/>
            <a:ext cx="10578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1307" y="3775039"/>
            <a:ext cx="58440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Koch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426" y="1084782"/>
            <a:ext cx="206018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3 — the world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9824" y="2954855"/>
            <a:ext cx="19293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trees, lungs, ferns,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7701" y="3301326"/>
            <a:ext cx="13535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game worlds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51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64" y="1472027"/>
            <a:ext cx="1781607" cy="13362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247" y="1422760"/>
            <a:ext cx="1578486" cy="13040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068" y="127907"/>
            <a:ext cx="769581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rule, repeated, explains what smooth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068" y="532140"/>
            <a:ext cx="12693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couldn’t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188" y="1084785"/>
            <a:ext cx="235259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1 — the surprise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436" y="3007377"/>
            <a:ext cx="1090114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zero area,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882" y="3353873"/>
            <a:ext cx="12912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infinite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7235" y="1084785"/>
            <a:ext cx="22895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2 — 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614" y="3428568"/>
            <a:ext cx="10578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1307" y="3775039"/>
            <a:ext cx="58440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Koch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426" y="1084782"/>
            <a:ext cx="206018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3 — the world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9824" y="2954855"/>
            <a:ext cx="19293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trees, lungs, ferns,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7701" y="3301326"/>
            <a:ext cx="13535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game worlds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7043" y="4527955"/>
            <a:ext cx="5789862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“Clouds are not spheres, mountains are not cones,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8427" y="4866869"/>
            <a:ext cx="4987185" cy="33485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coastlines are not circles...”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— Mandelbrot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4892" y="5295788"/>
            <a:ext cx="6364821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Roughness has a number, and simple rules make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951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64" y="1472027"/>
            <a:ext cx="1781607" cy="13362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247" y="1422760"/>
            <a:ext cx="1578486" cy="13040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068" y="127907"/>
            <a:ext cx="769581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rule, repeated, explains what smooth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068" y="532140"/>
            <a:ext cx="1269306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couldn’t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188" y="1084785"/>
            <a:ext cx="235259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1 — the surprise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436" y="3007377"/>
            <a:ext cx="1090114" cy="302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zero area,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882" y="3353873"/>
            <a:ext cx="1291225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infinite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7235" y="1084785"/>
            <a:ext cx="2289547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2 — 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614" y="3428568"/>
            <a:ext cx="1057801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1307" y="3775039"/>
            <a:ext cx="584400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Koch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426" y="1084782"/>
            <a:ext cx="2060189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A5C4B"/>
                </a:solidFill>
                <a:latin typeface="Arial"/>
              </a:rPr>
              <a:t>Part 3 — the world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9824" y="2954855"/>
            <a:ext cx="1929352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trees, lungs, ferns,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7701" y="3301326"/>
            <a:ext cx="1353593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game worlds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7043" y="4527955"/>
            <a:ext cx="5789862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“Clouds are not spheres, mountains are not cones,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8427" y="4866869"/>
            <a:ext cx="4987185" cy="33485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coastlines are not circles...”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— Mandelbrot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4892" y="5295788"/>
            <a:ext cx="6364821" cy="3272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Roughness has a number, and simple rules make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6369" y="6166808"/>
            <a:ext cx="3451244" cy="3021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6B6257"/>
                </a:solidFill>
                <a:latin typeface="Arial"/>
              </a:rPr>
              <a:t>Thank you — questions welcome.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951" y="6628585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1700150" cy="3774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587" y="1832759"/>
            <a:ext cx="7102036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B. Mandelbrot, “How long is the coast of Britain? Statistical self-similarity 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8428" y="2107053"/>
            <a:ext cx="3358433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fractional dimension,”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Science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1967.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2587" y="2481775"/>
            <a:ext cx="5060510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B. Mandelbrot,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The Fractal Geometry of Nature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1982.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587" y="2856496"/>
            <a:ext cx="5905924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E. R. Weibel,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Morphometry of the Human Lung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Springer, 1963.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587" y="3231218"/>
            <a:ext cx="7110475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M. F. Barnsley,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Fractals Everywhere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Academic Press, 1988 (iterated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28" y="3505537"/>
            <a:ext cx="1718220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systems, the fern).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587" y="3880258"/>
            <a:ext cx="7336441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A. E. Bosman,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Het wondere onderzoekingsveld van de vlakke meetkunde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8428" y="4154552"/>
            <a:ext cx="2958724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(Pythagorean tree, drawn 1942).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587" y="4529274"/>
            <a:ext cx="7403527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A. Fournier, D. Fussell, L. Carpenter, “Computer rendering of stochastic models,”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8428" y="4803568"/>
            <a:ext cx="3188305" cy="2831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1">
                <a:solidFill>
                  <a:srgbClr val="191919"/>
                </a:solidFill>
                <a:latin typeface="Arial"/>
              </a:rPr>
              <a:t>Comm. ACM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1982 (fractal terrain).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587" y="5178289"/>
            <a:ext cx="5602226" cy="277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3Blue1Brown, “Fractals are typically not self-similar” (video).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6166</Words>
  <Application>Microsoft Office PowerPoint</Application>
  <PresentationFormat>On-screen Show (4:3)</PresentationFormat>
  <Paragraphs>1119</Paragraphs>
  <Slides>108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2" baseType="lpstr">
      <vt:lpstr>Arial</vt:lpstr>
      <vt:lpstr>Calibri</vt:lpstr>
      <vt:lpstr>Century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Pritom Biswas</cp:lastModifiedBy>
  <cp:revision>3</cp:revision>
  <dcterms:created xsi:type="dcterms:W3CDTF">2013-01-27T09:14:16Z</dcterms:created>
  <dcterms:modified xsi:type="dcterms:W3CDTF">2026-09-15T08:42:37Z</dcterms:modified>
  <cp:category/>
</cp:coreProperties>
</file>